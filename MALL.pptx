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0" r:id="rId4"/>
    <p:sldId id="259" r:id="rId5"/>
    <p:sldId id="266" r:id="rId6"/>
    <p:sldId id="261" r:id="rId7"/>
    <p:sldId id="268" r:id="rId8"/>
    <p:sldId id="262" r:id="rId9"/>
    <p:sldId id="267" r:id="rId10"/>
    <p:sldId id="269" r:id="rId11"/>
    <p:sldId id="263" r:id="rId12"/>
    <p:sldId id="258" r:id="rId13"/>
    <p:sldId id="270" r:id="rId14"/>
    <p:sldId id="265" r:id="rId15"/>
  </p:sldIdLst>
  <p:sldSz cx="18288000" cy="10287000"/>
  <p:notesSz cx="6858000" cy="9144000"/>
  <p:embeddedFontLst>
    <p:embeddedFont>
      <p:font typeface="Agrandir Bold" panose="020B0604020202020204" charset="0"/>
      <p:regular r:id="rId16"/>
    </p:embeddedFont>
    <p:embeddedFont>
      <p:font typeface="Arial Black" panose="020B0A04020102020204" pitchFamily="34" charset="0"/>
      <p:bold r:id="rId17"/>
    </p:embeddedFont>
    <p:embeddedFont>
      <p:font typeface="Bahnschrift" panose="020B0502040204020203" pitchFamily="34" charset="0"/>
      <p:regular r:id="rId18"/>
      <p:bold r:id="rId19"/>
    </p:embeddedFont>
    <p:embeddedFont>
      <p:font typeface="Poppins" panose="00000500000000000000" pitchFamily="2" charset="0"/>
      <p:regular r:id="rId20"/>
      <p:italic r:id="rId21"/>
    </p:embeddedFont>
    <p:embeddedFont>
      <p:font typeface="Poppins Bold" panose="00000800000000000000" charset="0"/>
      <p:regular r:id="rId22"/>
    </p:embeddedFont>
    <p:embeddedFont>
      <p:font typeface="Poppins Medium" panose="00000600000000000000" pitchFamily="2" charset="0"/>
      <p:regular r:id="rId23"/>
      <p: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2" d="100"/>
          <a:sy n="42" d="100"/>
        </p:scale>
        <p:origin x="912"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E:\Mall%20Project\Dashboard.xlsm"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file:///E:\Mall%20Project\Dashboard.xlsm"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E:\Mall%20Project\Dashboard.xlsm"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[Dashboard.xlsm]pivot!quantity of goods</c:name>
    <c:fmtId val="18"/>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noFill/>
          </a:ln>
          <a:effectLst/>
          <a:scene3d>
            <a:camera prst="orthographicFront"/>
            <a:lightRig rig="threePt" dir="t"/>
          </a:scene3d>
          <a:sp3d>
            <a:bevel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rgbClr val="002060"/>
          </a:solidFill>
          <a:ln w="19050">
            <a:noFill/>
          </a:ln>
          <a:effectLst/>
          <a:scene3d>
            <a:camera prst="orthographicFront"/>
            <a:lightRig rig="threePt" dir="t"/>
          </a:scene3d>
          <a:sp3d>
            <a:bevelT/>
          </a:sp3d>
        </c:spPr>
      </c:pivotFmt>
      <c:pivotFmt>
        <c:idx val="8"/>
        <c:spPr>
          <a:solidFill>
            <a:srgbClr val="C00000"/>
          </a:solidFill>
          <a:ln w="19050">
            <a:noFill/>
          </a:ln>
          <a:effectLst/>
          <a:scene3d>
            <a:camera prst="orthographicFront"/>
            <a:lightRig rig="threePt" dir="t"/>
          </a:scene3d>
          <a:sp3d>
            <a:bevelT/>
          </a:sp3d>
        </c:spPr>
      </c:pivotFmt>
      <c:pivotFmt>
        <c:idx val="9"/>
        <c:spPr>
          <a:solidFill>
            <a:srgbClr val="00F017"/>
          </a:solidFill>
          <a:ln w="19050">
            <a:noFill/>
          </a:ln>
          <a:effectLst/>
          <a:scene3d>
            <a:camera prst="orthographicFront"/>
            <a:lightRig rig="threePt" dir="t"/>
          </a:scene3d>
          <a:sp3d>
            <a:bevelT/>
          </a:sp3d>
        </c:spPr>
      </c:pivotFmt>
      <c:pivotFmt>
        <c:idx val="10"/>
        <c:spPr>
          <a:solidFill>
            <a:srgbClr val="FFFF00"/>
          </a:solidFill>
          <a:ln w="19050">
            <a:noFill/>
          </a:ln>
          <a:effectLst/>
          <a:scene3d>
            <a:camera prst="orthographicFront"/>
            <a:lightRig rig="threePt" dir="t"/>
          </a:scene3d>
          <a:sp3d>
            <a:bevelT/>
          </a:sp3d>
        </c:spPr>
      </c:pivotFmt>
      <c:pivotFmt>
        <c:idx val="11"/>
        <c:spPr>
          <a:solidFill>
            <a:schemeClr val="accent1"/>
          </a:solidFill>
          <a:ln w="19050">
            <a:noFill/>
          </a:ln>
          <a:effectLst/>
          <a:scene3d>
            <a:camera prst="orthographicFront"/>
            <a:lightRig rig="threePt" dir="t"/>
          </a:scene3d>
          <a:sp3d>
            <a:bevel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rgbClr val="002060"/>
          </a:solidFill>
          <a:ln w="19050">
            <a:noFill/>
          </a:ln>
          <a:effectLst/>
          <a:scene3d>
            <a:camera prst="orthographicFront"/>
            <a:lightRig rig="threePt" dir="t"/>
          </a:scene3d>
          <a:sp3d>
            <a:bevelT/>
          </a:sp3d>
        </c:spPr>
      </c:pivotFmt>
      <c:pivotFmt>
        <c:idx val="13"/>
        <c:spPr>
          <a:solidFill>
            <a:srgbClr val="C00000"/>
          </a:solidFill>
          <a:ln w="19050">
            <a:noFill/>
          </a:ln>
          <a:effectLst/>
          <a:scene3d>
            <a:camera prst="orthographicFront"/>
            <a:lightRig rig="threePt" dir="t"/>
          </a:scene3d>
          <a:sp3d>
            <a:bevelT/>
          </a:sp3d>
        </c:spPr>
      </c:pivotFmt>
      <c:pivotFmt>
        <c:idx val="14"/>
        <c:spPr>
          <a:solidFill>
            <a:srgbClr val="00F017"/>
          </a:solidFill>
          <a:ln w="19050">
            <a:noFill/>
          </a:ln>
          <a:effectLst/>
          <a:scene3d>
            <a:camera prst="orthographicFront"/>
            <a:lightRig rig="threePt" dir="t"/>
          </a:scene3d>
          <a:sp3d>
            <a:bevelT/>
          </a:sp3d>
        </c:spPr>
      </c:pivotFmt>
      <c:pivotFmt>
        <c:idx val="15"/>
        <c:spPr>
          <a:solidFill>
            <a:srgbClr val="FFFF00"/>
          </a:solidFill>
          <a:ln w="19050">
            <a:noFill/>
          </a:ln>
          <a:effectLst/>
          <a:scene3d>
            <a:camera prst="orthographicFront"/>
            <a:lightRig rig="threePt" dir="t"/>
          </a:scene3d>
          <a:sp3d>
            <a:bevelT/>
          </a:sp3d>
        </c:spPr>
      </c:pivotFmt>
      <c:pivotFmt>
        <c:idx val="16"/>
        <c:spPr>
          <a:solidFill>
            <a:schemeClr val="accent1"/>
          </a:solidFill>
          <a:ln w="19050">
            <a:noFill/>
          </a:ln>
          <a:effectLst/>
          <a:scene3d>
            <a:camera prst="orthographicFront"/>
            <a:lightRig rig="threePt" dir="t"/>
          </a:scene3d>
          <a:sp3d>
            <a:bevel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rgbClr val="002060"/>
          </a:solidFill>
          <a:ln w="19050">
            <a:noFill/>
          </a:ln>
          <a:effectLst/>
          <a:scene3d>
            <a:camera prst="orthographicFront"/>
            <a:lightRig rig="threePt" dir="t"/>
          </a:scene3d>
          <a:sp3d>
            <a:bevelT/>
          </a:sp3d>
        </c:spPr>
      </c:pivotFmt>
      <c:pivotFmt>
        <c:idx val="18"/>
        <c:spPr>
          <a:solidFill>
            <a:srgbClr val="C00000"/>
          </a:solidFill>
          <a:ln w="19050">
            <a:noFill/>
          </a:ln>
          <a:effectLst/>
          <a:scene3d>
            <a:camera prst="orthographicFront"/>
            <a:lightRig rig="threePt" dir="t"/>
          </a:scene3d>
          <a:sp3d>
            <a:bevelT/>
          </a:sp3d>
        </c:spPr>
      </c:pivotFmt>
      <c:pivotFmt>
        <c:idx val="19"/>
        <c:spPr>
          <a:solidFill>
            <a:srgbClr val="00F017"/>
          </a:solidFill>
          <a:ln w="19050">
            <a:noFill/>
          </a:ln>
          <a:effectLst/>
          <a:scene3d>
            <a:camera prst="orthographicFront"/>
            <a:lightRig rig="threePt" dir="t"/>
          </a:scene3d>
          <a:sp3d>
            <a:bevelT/>
          </a:sp3d>
        </c:spPr>
      </c:pivotFmt>
      <c:pivotFmt>
        <c:idx val="20"/>
        <c:spPr>
          <a:solidFill>
            <a:srgbClr val="FFFF00"/>
          </a:solidFill>
          <a:ln w="19050">
            <a:noFill/>
          </a:ln>
          <a:effectLst/>
          <a:scene3d>
            <a:camera prst="orthographicFront"/>
            <a:lightRig rig="threePt" dir="t"/>
          </a:scene3d>
          <a:sp3d>
            <a:bevelT/>
          </a:sp3d>
        </c:spPr>
      </c:pivotFmt>
    </c:pivotFmts>
    <c:plotArea>
      <c:layout>
        <c:manualLayout>
          <c:layoutTarget val="inner"/>
          <c:xMode val="edge"/>
          <c:yMode val="edge"/>
          <c:x val="0.13067498666720109"/>
          <c:y val="0.11315811319983848"/>
          <c:w val="0.52194190392220807"/>
          <c:h val="0.76971074378369264"/>
        </c:manualLayout>
      </c:layout>
      <c:doughnutChart>
        <c:varyColors val="1"/>
        <c:ser>
          <c:idx val="0"/>
          <c:order val="0"/>
          <c:tx>
            <c:strRef>
              <c:f>pivot!$L$41</c:f>
              <c:strCache>
                <c:ptCount val="1"/>
                <c:pt idx="0">
                  <c:v>Total</c:v>
                </c:pt>
              </c:strCache>
            </c:strRef>
          </c:tx>
          <c:spPr>
            <a:ln>
              <a:noFill/>
            </a:ln>
            <a:scene3d>
              <a:camera prst="orthographicFront"/>
              <a:lightRig rig="threePt" dir="t"/>
            </a:scene3d>
            <a:sp3d>
              <a:bevelT/>
            </a:sp3d>
          </c:spPr>
          <c:dPt>
            <c:idx val="0"/>
            <c:bubble3D val="0"/>
            <c:spPr>
              <a:solidFill>
                <a:srgbClr val="002060"/>
              </a:solidFill>
              <a:ln w="19050">
                <a:noFill/>
              </a:ln>
              <a:effectLst/>
              <a:scene3d>
                <a:camera prst="orthographicFront"/>
                <a:lightRig rig="threePt" dir="t"/>
              </a:scene3d>
              <a:sp3d>
                <a:bevelT/>
              </a:sp3d>
            </c:spPr>
            <c:extLst>
              <c:ext xmlns:c16="http://schemas.microsoft.com/office/drawing/2014/chart" uri="{C3380CC4-5D6E-409C-BE32-E72D297353CC}">
                <c16:uniqueId val="{00000001-C701-43EA-80DE-6CE74A8F5FA9}"/>
              </c:ext>
            </c:extLst>
          </c:dPt>
          <c:dPt>
            <c:idx val="1"/>
            <c:bubble3D val="0"/>
            <c:spPr>
              <a:solidFill>
                <a:srgbClr val="C00000"/>
              </a:solidFill>
              <a:ln w="19050">
                <a:noFill/>
              </a:ln>
              <a:effectLst/>
              <a:scene3d>
                <a:camera prst="orthographicFront"/>
                <a:lightRig rig="threePt" dir="t"/>
              </a:scene3d>
              <a:sp3d>
                <a:bevelT/>
              </a:sp3d>
            </c:spPr>
            <c:extLst>
              <c:ext xmlns:c16="http://schemas.microsoft.com/office/drawing/2014/chart" uri="{C3380CC4-5D6E-409C-BE32-E72D297353CC}">
                <c16:uniqueId val="{00000003-C701-43EA-80DE-6CE74A8F5FA9}"/>
              </c:ext>
            </c:extLst>
          </c:dPt>
          <c:dPt>
            <c:idx val="2"/>
            <c:bubble3D val="0"/>
            <c:spPr>
              <a:solidFill>
                <a:srgbClr val="00F017"/>
              </a:solidFill>
              <a:ln w="19050">
                <a:noFill/>
              </a:ln>
              <a:effectLst/>
              <a:scene3d>
                <a:camera prst="orthographicFront"/>
                <a:lightRig rig="threePt" dir="t"/>
              </a:scene3d>
              <a:sp3d>
                <a:bevelT/>
              </a:sp3d>
            </c:spPr>
            <c:extLst>
              <c:ext xmlns:c16="http://schemas.microsoft.com/office/drawing/2014/chart" uri="{C3380CC4-5D6E-409C-BE32-E72D297353CC}">
                <c16:uniqueId val="{00000005-C701-43EA-80DE-6CE74A8F5FA9}"/>
              </c:ext>
            </c:extLst>
          </c:dPt>
          <c:dPt>
            <c:idx val="3"/>
            <c:bubble3D val="0"/>
            <c:spPr>
              <a:solidFill>
                <a:srgbClr val="FFFF00"/>
              </a:solidFill>
              <a:ln w="19050">
                <a:noFill/>
              </a:ln>
              <a:effectLst/>
              <a:scene3d>
                <a:camera prst="orthographicFront"/>
                <a:lightRig rig="threePt" dir="t"/>
              </a:scene3d>
              <a:sp3d>
                <a:bevelT/>
              </a:sp3d>
            </c:spPr>
            <c:extLst>
              <c:ext xmlns:c16="http://schemas.microsoft.com/office/drawing/2014/chart" uri="{C3380CC4-5D6E-409C-BE32-E72D297353CC}">
                <c16:uniqueId val="{00000007-C701-43EA-80DE-6CE74A8F5FA9}"/>
              </c:ext>
            </c:extLst>
          </c:dPt>
          <c:cat>
            <c:strRef>
              <c:f>pivot!$K$42:$K$46</c:f>
              <c:strCache>
                <c:ptCount val="4"/>
                <c:pt idx="0">
                  <c:v>2021</c:v>
                </c:pt>
                <c:pt idx="1">
                  <c:v>2022</c:v>
                </c:pt>
                <c:pt idx="2">
                  <c:v>2023</c:v>
                </c:pt>
                <c:pt idx="3">
                  <c:v>2024</c:v>
                </c:pt>
              </c:strCache>
            </c:strRef>
          </c:cat>
          <c:val>
            <c:numRef>
              <c:f>pivot!$L$42:$L$46</c:f>
              <c:numCache>
                <c:formatCode>General</c:formatCode>
                <c:ptCount val="4"/>
                <c:pt idx="0">
                  <c:v>7581</c:v>
                </c:pt>
                <c:pt idx="1">
                  <c:v>7979</c:v>
                </c:pt>
                <c:pt idx="2">
                  <c:v>9837</c:v>
                </c:pt>
                <c:pt idx="3">
                  <c:v>12476</c:v>
                </c:pt>
              </c:numCache>
            </c:numRef>
          </c:val>
          <c:extLst>
            <c:ext xmlns:c16="http://schemas.microsoft.com/office/drawing/2014/chart" uri="{C3380CC4-5D6E-409C-BE32-E72D297353CC}">
              <c16:uniqueId val="{00000008-C701-43EA-80DE-6CE74A8F5FA9}"/>
            </c:ext>
          </c:extLst>
        </c:ser>
        <c:dLbls>
          <c:showLegendKey val="0"/>
          <c:showVal val="0"/>
          <c:showCatName val="0"/>
          <c:showSerName val="0"/>
          <c:showPercent val="0"/>
          <c:showBubbleSize val="0"/>
          <c:showLeaderLines val="1"/>
        </c:dLbls>
        <c:firstSliceAng val="0"/>
        <c:holeSize val="62"/>
      </c:doughnutChart>
      <c:spPr>
        <a:noFill/>
        <a:ln>
          <a:noFill/>
        </a:ln>
        <a:effectLst/>
      </c:spPr>
    </c:plotArea>
    <c:legend>
      <c:legendPos val="r"/>
      <c:layout>
        <c:manualLayout>
          <c:xMode val="edge"/>
          <c:yMode val="edge"/>
          <c:x val="0.70885764991717382"/>
          <c:y val="0.30849874585083298"/>
          <c:w val="0.25169722548143997"/>
          <c:h val="0.45912428937390154"/>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[Dashboard.xlsm]pivot!Sales by segment</c:name>
    <c:fmtId val="40"/>
  </c:pivotSource>
  <c:chart>
    <c:autoTitleDeleted val="1"/>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0070C0"/>
          </a:solidFill>
          <a:ln>
            <a:noFill/>
          </a:ln>
          <a:effectLst/>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973861146158443"/>
                  <c:h val="5.6458233250461794E-2"/>
                </c:manualLayout>
              </c15:layout>
            </c:ext>
          </c:extLst>
        </c:dLbl>
      </c:pivotFmt>
      <c:pivotFmt>
        <c:idx val="5"/>
        <c:spPr>
          <a:solidFill>
            <a:srgbClr val="C00000"/>
          </a:solidFill>
          <a:ln>
            <a:noFill/>
          </a:ln>
          <a:effectLst/>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31846985191579785"/>
                  <c:h val="7.130264164234483E-2"/>
                </c:manualLayout>
              </c15:layout>
            </c:ext>
          </c:extLst>
        </c:dLbl>
      </c:pivotFmt>
      <c:pivotFmt>
        <c:idx val="6"/>
        <c:spPr>
          <a:solidFill>
            <a:srgbClr val="FFC000"/>
          </a:solidFill>
          <a:ln>
            <a:noFill/>
          </a:ln>
          <a:effectLst/>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8684424596586755"/>
                  <c:h val="6.6354505511717149E-2"/>
                </c:manualLayout>
              </c15:layout>
            </c:ext>
          </c:extLst>
        </c:dLbl>
      </c:pivotFmt>
      <c:pivotFmt>
        <c:idx val="7"/>
        <c:spPr>
          <a:solidFill>
            <a:schemeClr val="accent1"/>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0070C0"/>
          </a:solidFill>
          <a:ln>
            <a:noFill/>
          </a:ln>
          <a:effectLst/>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973861146158443"/>
                  <c:h val="5.6458233250461794E-2"/>
                </c:manualLayout>
              </c15:layout>
            </c:ext>
          </c:extLst>
        </c:dLbl>
      </c:pivotFmt>
      <c:pivotFmt>
        <c:idx val="9"/>
        <c:spPr>
          <a:solidFill>
            <a:srgbClr val="C00000"/>
          </a:solidFill>
          <a:ln>
            <a:noFill/>
          </a:ln>
          <a:effectLst/>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31846985191579785"/>
                  <c:h val="7.130264164234483E-2"/>
                </c:manualLayout>
              </c15:layout>
            </c:ext>
          </c:extLst>
        </c:dLbl>
      </c:pivotFmt>
      <c:pivotFmt>
        <c:idx val="10"/>
        <c:spPr>
          <a:solidFill>
            <a:srgbClr val="FFC000"/>
          </a:solidFill>
          <a:ln>
            <a:noFill/>
          </a:ln>
          <a:effectLst/>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8684424596586755"/>
                  <c:h val="6.6354505511717149E-2"/>
                </c:manualLayout>
              </c15:layout>
            </c:ext>
          </c:extLst>
        </c:dLbl>
      </c:pivotFmt>
      <c:pivotFmt>
        <c:idx val="11"/>
        <c:spPr>
          <a:solidFill>
            <a:schemeClr val="accent1"/>
          </a:solidFill>
          <a:ln>
            <a:noFill/>
          </a:ln>
          <a:effectLst/>
          <a:scene3d>
            <a:camera prst="orthographicFront"/>
            <a:lightRig rig="threePt" dir="t"/>
          </a:scene3d>
          <a:sp3d>
            <a:bevelT/>
          </a:sp3d>
        </c:spPr>
        <c:marker>
          <c:symbol val="none"/>
        </c:marke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rgbClr val="0070C0"/>
          </a:solidFill>
          <a:ln>
            <a:noFill/>
          </a:ln>
          <a:effectLst/>
          <a:scene3d>
            <a:camera prst="orthographicFront"/>
            <a:lightRig rig="threePt" dir="t"/>
          </a:scene3d>
          <a:sp3d>
            <a:bevelT/>
          </a:sp3d>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973861146158443"/>
                  <c:h val="5.6458233250461794E-2"/>
                </c:manualLayout>
              </c15:layout>
            </c:ext>
          </c:extLst>
        </c:dLbl>
      </c:pivotFmt>
      <c:pivotFmt>
        <c:idx val="13"/>
        <c:spPr>
          <a:solidFill>
            <a:srgbClr val="C00000"/>
          </a:solidFill>
          <a:ln>
            <a:noFill/>
          </a:ln>
          <a:effectLst/>
          <a:scene3d>
            <a:camera prst="orthographicFront"/>
            <a:lightRig rig="threePt" dir="t"/>
          </a:scene3d>
          <a:sp3d>
            <a:bevelT/>
          </a:sp3d>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31846985191579785"/>
                  <c:h val="7.130264164234483E-2"/>
                </c:manualLayout>
              </c15:layout>
            </c:ext>
          </c:extLst>
        </c:dLbl>
      </c:pivotFmt>
      <c:pivotFmt>
        <c:idx val="14"/>
        <c:spPr>
          <a:solidFill>
            <a:srgbClr val="FFC000"/>
          </a:solidFill>
          <a:ln>
            <a:noFill/>
          </a:ln>
          <a:effectLst/>
          <a:scene3d>
            <a:camera prst="orthographicFront"/>
            <a:lightRig rig="threePt" dir="t"/>
          </a:scene3d>
          <a:sp3d>
            <a:bevelT/>
          </a:sp3d>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8684424596586755"/>
                  <c:h val="6.6354505511717149E-2"/>
                </c:manualLayout>
              </c15:layout>
            </c:ext>
          </c:extLst>
        </c:dLbl>
      </c:pivotFmt>
      <c:pivotFmt>
        <c:idx val="15"/>
        <c:spPr>
          <a:solidFill>
            <a:schemeClr val="accent1"/>
          </a:solidFill>
          <a:ln>
            <a:noFill/>
          </a:ln>
          <a:effectLst/>
          <a:scene3d>
            <a:camera prst="orthographicFront"/>
            <a:lightRig rig="threePt" dir="t"/>
          </a:scene3d>
          <a:sp3d>
            <a:bevelT/>
          </a:sp3d>
        </c:spPr>
        <c:marker>
          <c:symbol val="none"/>
        </c:marke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rgbClr val="0070C0"/>
          </a:solidFill>
          <a:ln>
            <a:noFill/>
          </a:ln>
          <a:effectLst/>
          <a:scene3d>
            <a:camera prst="orthographicFront"/>
            <a:lightRig rig="threePt" dir="t"/>
          </a:scene3d>
          <a:sp3d>
            <a:bevelT/>
          </a:sp3d>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973861146158443"/>
                  <c:h val="5.6458233250461794E-2"/>
                </c:manualLayout>
              </c15:layout>
            </c:ext>
          </c:extLst>
        </c:dLbl>
      </c:pivotFmt>
      <c:pivotFmt>
        <c:idx val="17"/>
        <c:spPr>
          <a:solidFill>
            <a:srgbClr val="C00000"/>
          </a:solidFill>
          <a:ln>
            <a:noFill/>
          </a:ln>
          <a:effectLst/>
          <a:scene3d>
            <a:camera prst="orthographicFront"/>
            <a:lightRig rig="threePt" dir="t"/>
          </a:scene3d>
          <a:sp3d>
            <a:bevelT/>
          </a:sp3d>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31846985191579785"/>
                  <c:h val="7.130264164234483E-2"/>
                </c:manualLayout>
              </c15:layout>
            </c:ext>
          </c:extLst>
        </c:dLbl>
      </c:pivotFmt>
      <c:pivotFmt>
        <c:idx val="18"/>
        <c:spPr>
          <a:solidFill>
            <a:srgbClr val="FFC000"/>
          </a:solidFill>
          <a:ln>
            <a:noFill/>
          </a:ln>
          <a:effectLst/>
          <a:scene3d>
            <a:camera prst="orthographicFront"/>
            <a:lightRig rig="threePt" dir="t"/>
          </a:scene3d>
          <a:sp3d>
            <a:bevelT/>
          </a:sp3d>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8684424596586755"/>
                  <c:h val="6.6354505511717149E-2"/>
                </c:manualLayout>
              </c15:layout>
            </c:ext>
          </c:extLst>
        </c:dLbl>
      </c:pivotFmt>
      <c:pivotFmt>
        <c:idx val="19"/>
        <c:spPr>
          <a:solidFill>
            <a:schemeClr val="accent1"/>
          </a:solidFill>
          <a:ln>
            <a:noFill/>
          </a:ln>
          <a:effectLst/>
          <a:scene3d>
            <a:camera prst="orthographicFront"/>
            <a:lightRig rig="threePt" dir="t"/>
          </a:scene3d>
          <a:sp3d>
            <a:bevelT/>
          </a:sp3d>
        </c:spPr>
        <c:marker>
          <c:symbol val="none"/>
        </c:marke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rgbClr val="0070C0"/>
          </a:solidFill>
          <a:ln>
            <a:noFill/>
          </a:ln>
          <a:effectLst/>
          <a:scene3d>
            <a:camera prst="orthographicFront"/>
            <a:lightRig rig="threePt" dir="t"/>
          </a:scene3d>
          <a:sp3d>
            <a:bevelT/>
          </a:sp3d>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973861146158443"/>
                  <c:h val="5.6458233250461794E-2"/>
                </c:manualLayout>
              </c15:layout>
            </c:ext>
          </c:extLst>
        </c:dLbl>
      </c:pivotFmt>
      <c:pivotFmt>
        <c:idx val="21"/>
        <c:spPr>
          <a:solidFill>
            <a:srgbClr val="C00000"/>
          </a:solidFill>
          <a:ln>
            <a:noFill/>
          </a:ln>
          <a:effectLst/>
          <a:scene3d>
            <a:camera prst="orthographicFront"/>
            <a:lightRig rig="threePt" dir="t"/>
          </a:scene3d>
          <a:sp3d>
            <a:bevelT/>
          </a:sp3d>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31846985191579785"/>
                  <c:h val="7.130264164234483E-2"/>
                </c:manualLayout>
              </c15:layout>
            </c:ext>
          </c:extLst>
        </c:dLbl>
      </c:pivotFmt>
      <c:pivotFmt>
        <c:idx val="22"/>
        <c:spPr>
          <a:solidFill>
            <a:srgbClr val="FFC000"/>
          </a:solidFill>
          <a:ln>
            <a:noFill/>
          </a:ln>
          <a:effectLst/>
          <a:scene3d>
            <a:camera prst="orthographicFront"/>
            <a:lightRig rig="threePt" dir="t"/>
          </a:scene3d>
          <a:sp3d>
            <a:bevelT/>
          </a:sp3d>
        </c:spPr>
        <c:dLbl>
          <c:idx val="0"/>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8684424596586755"/>
                  <c:h val="6.6354505511717149E-2"/>
                </c:manualLayout>
              </c15:layout>
            </c:ext>
          </c:extLst>
        </c:dLbl>
      </c:pivotFmt>
    </c:pivotFmts>
    <c:plotArea>
      <c:layout>
        <c:manualLayout>
          <c:layoutTarget val="inner"/>
          <c:xMode val="edge"/>
          <c:yMode val="edge"/>
          <c:x val="2.7556983008702858E-2"/>
          <c:y val="3.3522901277827727E-2"/>
          <c:w val="0.96805675216377507"/>
          <c:h val="0.8493145640650559"/>
        </c:manualLayout>
      </c:layout>
      <c:barChart>
        <c:barDir val="col"/>
        <c:grouping val="clustered"/>
        <c:varyColors val="0"/>
        <c:ser>
          <c:idx val="0"/>
          <c:order val="0"/>
          <c:tx>
            <c:strRef>
              <c:f>pivot!$F$28</c:f>
              <c:strCache>
                <c:ptCount val="1"/>
                <c:pt idx="0">
                  <c:v>Total</c:v>
                </c:pt>
              </c:strCache>
            </c:strRef>
          </c:tx>
          <c:spPr>
            <a:solidFill>
              <a:schemeClr val="accent1"/>
            </a:solidFill>
            <a:ln>
              <a:noFill/>
            </a:ln>
            <a:effectLst/>
            <a:scene3d>
              <a:camera prst="orthographicFront"/>
              <a:lightRig rig="threePt" dir="t"/>
            </a:scene3d>
            <a:sp3d>
              <a:bevelT/>
            </a:sp3d>
          </c:spPr>
          <c:invertIfNegative val="0"/>
          <c:dPt>
            <c:idx val="0"/>
            <c:invertIfNegative val="0"/>
            <c:bubble3D val="0"/>
            <c:spPr>
              <a:solidFill>
                <a:srgbClr val="0070C0"/>
              </a:solidFill>
              <a:ln>
                <a:noFill/>
              </a:ln>
              <a:effectLst/>
              <a:scene3d>
                <a:camera prst="orthographicFront"/>
                <a:lightRig rig="threePt" dir="t"/>
              </a:scene3d>
              <a:sp3d>
                <a:bevelT/>
              </a:sp3d>
            </c:spPr>
            <c:extLst>
              <c:ext xmlns:c16="http://schemas.microsoft.com/office/drawing/2014/chart" uri="{C3380CC4-5D6E-409C-BE32-E72D297353CC}">
                <c16:uniqueId val="{00000001-4818-42BC-92B7-6810EA6330CC}"/>
              </c:ext>
            </c:extLst>
          </c:dPt>
          <c:dPt>
            <c:idx val="1"/>
            <c:invertIfNegative val="0"/>
            <c:bubble3D val="0"/>
            <c:spPr>
              <a:solidFill>
                <a:srgbClr val="C00000"/>
              </a:solidFill>
              <a:ln>
                <a:noFill/>
              </a:ln>
              <a:effectLst/>
              <a:scene3d>
                <a:camera prst="orthographicFront"/>
                <a:lightRig rig="threePt" dir="t"/>
              </a:scene3d>
              <a:sp3d>
                <a:bevelT/>
              </a:sp3d>
            </c:spPr>
            <c:extLst>
              <c:ext xmlns:c16="http://schemas.microsoft.com/office/drawing/2014/chart" uri="{C3380CC4-5D6E-409C-BE32-E72D297353CC}">
                <c16:uniqueId val="{00000003-4818-42BC-92B7-6810EA6330CC}"/>
              </c:ext>
            </c:extLst>
          </c:dPt>
          <c:dPt>
            <c:idx val="2"/>
            <c:invertIfNegative val="0"/>
            <c:bubble3D val="0"/>
            <c:spPr>
              <a:solidFill>
                <a:srgbClr val="FFC000"/>
              </a:solidFill>
              <a:ln>
                <a:noFill/>
              </a:ln>
              <a:effectLst/>
              <a:scene3d>
                <a:camera prst="orthographicFront"/>
                <a:lightRig rig="threePt" dir="t"/>
              </a:scene3d>
              <a:sp3d>
                <a:bevelT/>
              </a:sp3d>
            </c:spPr>
            <c:extLst>
              <c:ext xmlns:c16="http://schemas.microsoft.com/office/drawing/2014/chart" uri="{C3380CC4-5D6E-409C-BE32-E72D297353CC}">
                <c16:uniqueId val="{00000005-4818-42BC-92B7-6810EA6330CC}"/>
              </c:ext>
            </c:extLst>
          </c:dPt>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2973861146158443"/>
                      <c:h val="5.6458233250461794E-2"/>
                    </c:manualLayout>
                  </c15:layout>
                </c:ext>
                <c:ext xmlns:c16="http://schemas.microsoft.com/office/drawing/2014/chart" uri="{C3380CC4-5D6E-409C-BE32-E72D297353CC}">
                  <c16:uniqueId val="{00000001-4818-42BC-92B7-6810EA6330CC}"/>
                </c:ext>
              </c:extLst>
            </c:dLbl>
            <c:dLbl>
              <c:idx val="1"/>
              <c:dLblPos val="outEnd"/>
              <c:showLegendKey val="0"/>
              <c:showVal val="1"/>
              <c:showCatName val="0"/>
              <c:showSerName val="0"/>
              <c:showPercent val="0"/>
              <c:showBubbleSize val="0"/>
              <c:extLst>
                <c:ext xmlns:c15="http://schemas.microsoft.com/office/drawing/2012/chart" uri="{CE6537A1-D6FC-4f65-9D91-7224C49458BB}">
                  <c15:layout>
                    <c:manualLayout>
                      <c:w val="0.31846985191579785"/>
                      <c:h val="7.130264164234483E-2"/>
                    </c:manualLayout>
                  </c15:layout>
                </c:ext>
                <c:ext xmlns:c16="http://schemas.microsoft.com/office/drawing/2014/chart" uri="{C3380CC4-5D6E-409C-BE32-E72D297353CC}">
                  <c16:uniqueId val="{00000003-4818-42BC-92B7-6810EA6330CC}"/>
                </c:ext>
              </c:extLst>
            </c:dLbl>
            <c:dLbl>
              <c:idx val="2"/>
              <c:dLblPos val="outEnd"/>
              <c:showLegendKey val="0"/>
              <c:showVal val="1"/>
              <c:showCatName val="0"/>
              <c:showSerName val="0"/>
              <c:showPercent val="0"/>
              <c:showBubbleSize val="0"/>
              <c:extLst>
                <c:ext xmlns:c15="http://schemas.microsoft.com/office/drawing/2012/chart" uri="{CE6537A1-D6FC-4f65-9D91-7224C49458BB}">
                  <c15:layout>
                    <c:manualLayout>
                      <c:w val="0.28684424596586755"/>
                      <c:h val="6.6354505511717149E-2"/>
                    </c:manualLayout>
                  </c15:layout>
                </c:ext>
                <c:ext xmlns:c16="http://schemas.microsoft.com/office/drawing/2014/chart" uri="{C3380CC4-5D6E-409C-BE32-E72D297353CC}">
                  <c16:uniqueId val="{00000005-4818-42BC-92B7-6810EA6330CC}"/>
                </c:ext>
              </c:extLst>
            </c:dLbl>
            <c:spPr>
              <a:noFill/>
              <a:ln>
                <a:noFill/>
              </a:ln>
              <a:effectLst/>
            </c:spPr>
            <c:txPr>
              <a:bodyPr wrap="square" lIns="38100" tIns="19050" rIns="38100" bIns="19050" anchor="ctr">
                <a:spAutoFit/>
              </a:bodyPr>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pivot!$E$29:$E$32</c:f>
              <c:strCache>
                <c:ptCount val="3"/>
                <c:pt idx="0">
                  <c:v>Consumer</c:v>
                </c:pt>
                <c:pt idx="1">
                  <c:v>Corporate</c:v>
                </c:pt>
                <c:pt idx="2">
                  <c:v>Home Office</c:v>
                </c:pt>
              </c:strCache>
            </c:strRef>
          </c:cat>
          <c:val>
            <c:numRef>
              <c:f>pivot!$F$29:$F$32</c:f>
              <c:numCache>
                <c:formatCode>General</c:formatCode>
                <c:ptCount val="3"/>
                <c:pt idx="0">
                  <c:v>125094730</c:v>
                </c:pt>
                <c:pt idx="1">
                  <c:v>76365041</c:v>
                </c:pt>
                <c:pt idx="2">
                  <c:v>45981242</c:v>
                </c:pt>
              </c:numCache>
            </c:numRef>
          </c:val>
          <c:extLst>
            <c:ext xmlns:c16="http://schemas.microsoft.com/office/drawing/2014/chart" uri="{C3380CC4-5D6E-409C-BE32-E72D297353CC}">
              <c16:uniqueId val="{00000006-4818-42BC-92B7-6810EA6330CC}"/>
            </c:ext>
          </c:extLst>
        </c:ser>
        <c:dLbls>
          <c:showLegendKey val="0"/>
          <c:showVal val="1"/>
          <c:showCatName val="0"/>
          <c:showSerName val="0"/>
          <c:showPercent val="0"/>
          <c:showBubbleSize val="0"/>
        </c:dLbls>
        <c:gapWidth val="90"/>
        <c:overlap val="60"/>
        <c:axId val="2032114688"/>
        <c:axId val="2032137984"/>
      </c:barChart>
      <c:catAx>
        <c:axId val="2032114688"/>
        <c:scaling>
          <c:orientation val="minMax"/>
        </c:scaling>
        <c:delete val="0"/>
        <c:axPos val="b"/>
        <c:numFmt formatCode="General" sourceLinked="1"/>
        <c:majorTickMark val="none"/>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en-US"/>
          </a:p>
        </c:txPr>
        <c:crossAx val="2032137984"/>
        <c:crosses val="autoZero"/>
        <c:auto val="1"/>
        <c:lblAlgn val="ctr"/>
        <c:lblOffset val="100"/>
        <c:noMultiLvlLbl val="0"/>
      </c:catAx>
      <c:valAx>
        <c:axId val="2032137984"/>
        <c:scaling>
          <c:orientation val="minMax"/>
        </c:scaling>
        <c:delete val="1"/>
        <c:axPos val="l"/>
        <c:numFmt formatCode="General" sourceLinked="1"/>
        <c:majorTickMark val="none"/>
        <c:minorTickMark val="none"/>
        <c:tickLblPos val="nextTo"/>
        <c:crossAx val="2032114688"/>
        <c:crosses val="autoZero"/>
        <c:crossBetween val="between"/>
      </c:valAx>
      <c:spPr>
        <a:noFill/>
        <a:ln>
          <a:noFill/>
        </a:ln>
      </c:spPr>
    </c:plotArea>
    <c:plotVisOnly val="1"/>
    <c:dispBlanksAs val="gap"/>
    <c:showDLblsOverMax val="0"/>
    <c:extLst/>
  </c:chart>
  <c:spPr>
    <a:noFill/>
    <a:ln>
      <a:noFill/>
    </a:ln>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[Dashboard.xlsm]pivot!Sales by category</c:name>
    <c:fmtId val="6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C000"/>
          </a:solidFill>
          <a:ln>
            <a:noFill/>
          </a:ln>
          <a:effectLst/>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6056372929228622"/>
                  <c:h val="5.2290267867564889E-2"/>
                </c:manualLayout>
              </c15:layout>
            </c:ext>
          </c:extLst>
        </c:dLbl>
      </c:pivotFmt>
      <c:pivotFmt>
        <c:idx val="4"/>
        <c:spPr>
          <a:solidFill>
            <a:srgbClr val="C00000"/>
          </a:solidFill>
          <a:ln>
            <a:noFill/>
          </a:ln>
          <a:effectLst/>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4009525095039416"/>
                  <c:h val="5.2290267867564889E-2"/>
                </c:manualLayout>
              </c15:layout>
            </c:ext>
          </c:extLst>
        </c:dLbl>
      </c:pivotFmt>
      <c:pivotFmt>
        <c:idx val="5"/>
        <c:spPr>
          <a:solidFill>
            <a:srgbClr val="00F017"/>
          </a:solidFill>
          <a:ln>
            <a:noFill/>
          </a:ln>
          <a:effectLst/>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7079796846323223"/>
                  <c:h val="5.7056928566522495E-2"/>
                </c:manualLayout>
              </c15:layout>
            </c:ext>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00F017"/>
          </a:solidFill>
          <a:ln>
            <a:noFill/>
          </a:ln>
          <a:effectLst/>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7079796846323223"/>
                  <c:h val="5.7056928566522495E-2"/>
                </c:manualLayout>
              </c15:layout>
            </c:ext>
          </c:extLst>
        </c:dLbl>
      </c:pivotFmt>
      <c:pivotFmt>
        <c:idx val="8"/>
        <c:spPr>
          <a:solidFill>
            <a:srgbClr val="C00000"/>
          </a:solidFill>
          <a:ln>
            <a:noFill/>
          </a:ln>
          <a:effectLst/>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4009525095039416"/>
                  <c:h val="5.2290267867564889E-2"/>
                </c:manualLayout>
              </c15:layout>
            </c:ext>
          </c:extLst>
        </c:dLbl>
      </c:pivotFmt>
      <c:pivotFmt>
        <c:idx val="9"/>
        <c:spPr>
          <a:solidFill>
            <a:srgbClr val="FFC000"/>
          </a:solidFill>
          <a:ln>
            <a:noFill/>
          </a:ln>
          <a:effectLst/>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6056372929228622"/>
                  <c:h val="5.2290267867564889E-2"/>
                </c:manualLayout>
              </c15:layout>
            </c:ext>
          </c:extLst>
        </c:dLbl>
      </c:pivotFmt>
      <c:pivotFmt>
        <c:idx val="10"/>
        <c:spPr>
          <a:solidFill>
            <a:schemeClr val="accent1"/>
          </a:solidFill>
          <a:ln>
            <a:noFill/>
          </a:ln>
          <a:effectLst/>
          <a:scene3d>
            <a:camera prst="orthographicFront"/>
            <a:lightRig rig="threePt" dir="t"/>
          </a:scene3d>
          <a:sp3d>
            <a:bevel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rgbClr val="00F017"/>
          </a:solidFill>
          <a:ln>
            <a:noFill/>
          </a:ln>
          <a:effectLst/>
          <a:scene3d>
            <a:camera prst="orthographicFront"/>
            <a:lightRig rig="threePt" dir="t"/>
          </a:scene3d>
          <a:sp3d>
            <a:bevelT/>
          </a:sp3d>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7079796846323223"/>
                  <c:h val="5.7056928566522495E-2"/>
                </c:manualLayout>
              </c15:layout>
            </c:ext>
          </c:extLst>
        </c:dLbl>
      </c:pivotFmt>
      <c:pivotFmt>
        <c:idx val="12"/>
        <c:spPr>
          <a:solidFill>
            <a:srgbClr val="C00000"/>
          </a:solidFill>
          <a:ln>
            <a:noFill/>
          </a:ln>
          <a:effectLst/>
          <a:scene3d>
            <a:camera prst="orthographicFront"/>
            <a:lightRig rig="threePt" dir="t"/>
          </a:scene3d>
          <a:sp3d>
            <a:bevelT/>
          </a:sp3d>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4009525095039416"/>
                  <c:h val="5.2290267867564889E-2"/>
                </c:manualLayout>
              </c15:layout>
            </c:ext>
          </c:extLst>
        </c:dLbl>
      </c:pivotFmt>
      <c:pivotFmt>
        <c:idx val="13"/>
        <c:spPr>
          <a:solidFill>
            <a:srgbClr val="FFC000"/>
          </a:solidFill>
          <a:ln>
            <a:noFill/>
          </a:ln>
          <a:effectLst/>
          <a:scene3d>
            <a:camera prst="orthographicFront"/>
            <a:lightRig rig="threePt" dir="t"/>
          </a:scene3d>
          <a:sp3d>
            <a:bevelT/>
          </a:sp3d>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6056372929228622"/>
                  <c:h val="5.2290267867564889E-2"/>
                </c:manualLayout>
              </c15:layout>
            </c:ext>
          </c:extLst>
        </c:dLbl>
      </c:pivotFmt>
      <c:pivotFmt>
        <c:idx val="14"/>
        <c:spPr>
          <a:solidFill>
            <a:schemeClr val="accent1"/>
          </a:solidFill>
          <a:ln>
            <a:noFill/>
          </a:ln>
          <a:effectLst/>
          <a:scene3d>
            <a:camera prst="orthographicFront"/>
            <a:lightRig rig="threePt" dir="t"/>
          </a:scene3d>
          <a:sp3d>
            <a:bevel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rgbClr val="00F017"/>
          </a:solidFill>
          <a:ln>
            <a:noFill/>
          </a:ln>
          <a:effectLst/>
          <a:scene3d>
            <a:camera prst="orthographicFront"/>
            <a:lightRig rig="threePt" dir="t"/>
          </a:scene3d>
          <a:sp3d>
            <a:bevelT/>
          </a:sp3d>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7079796846323223"/>
                  <c:h val="5.7056928566522495E-2"/>
                </c:manualLayout>
              </c15:layout>
            </c:ext>
          </c:extLst>
        </c:dLbl>
      </c:pivotFmt>
      <c:pivotFmt>
        <c:idx val="16"/>
        <c:spPr>
          <a:solidFill>
            <a:srgbClr val="C00000"/>
          </a:solidFill>
          <a:ln>
            <a:noFill/>
          </a:ln>
          <a:effectLst/>
          <a:scene3d>
            <a:camera prst="orthographicFront"/>
            <a:lightRig rig="threePt" dir="t"/>
          </a:scene3d>
          <a:sp3d>
            <a:bevelT/>
          </a:sp3d>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4009525095039416"/>
                  <c:h val="5.2290267867564889E-2"/>
                </c:manualLayout>
              </c15:layout>
            </c:ext>
          </c:extLst>
        </c:dLbl>
      </c:pivotFmt>
      <c:pivotFmt>
        <c:idx val="17"/>
        <c:spPr>
          <a:solidFill>
            <a:srgbClr val="FFC000"/>
          </a:solidFill>
          <a:ln>
            <a:noFill/>
          </a:ln>
          <a:effectLst/>
          <a:scene3d>
            <a:camera prst="orthographicFront"/>
            <a:lightRig rig="threePt" dir="t"/>
          </a:scene3d>
          <a:sp3d>
            <a:bevelT/>
          </a:sp3d>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6056372929228622"/>
                  <c:h val="5.2290267867564889E-2"/>
                </c:manualLayout>
              </c15:layout>
            </c:ext>
          </c:extLst>
        </c:dLbl>
      </c:pivotFmt>
      <c:pivotFmt>
        <c:idx val="18"/>
        <c:spPr>
          <a:solidFill>
            <a:schemeClr val="accent1"/>
          </a:solidFill>
          <a:ln>
            <a:noFill/>
          </a:ln>
          <a:effectLst/>
          <a:scene3d>
            <a:camera prst="orthographicFront"/>
            <a:lightRig rig="threePt" dir="t"/>
          </a:scene3d>
          <a:sp3d>
            <a:bevel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rgbClr val="00F017"/>
          </a:solidFill>
          <a:ln>
            <a:noFill/>
          </a:ln>
          <a:effectLst/>
          <a:scene3d>
            <a:camera prst="orthographicFront"/>
            <a:lightRig rig="threePt" dir="t"/>
          </a:scene3d>
          <a:sp3d>
            <a:bevelT/>
          </a:sp3d>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7079796846323223"/>
                  <c:h val="5.7056928566522495E-2"/>
                </c:manualLayout>
              </c15:layout>
            </c:ext>
          </c:extLst>
        </c:dLbl>
      </c:pivotFmt>
      <c:pivotFmt>
        <c:idx val="20"/>
        <c:spPr>
          <a:solidFill>
            <a:srgbClr val="C00000"/>
          </a:solidFill>
          <a:ln>
            <a:noFill/>
          </a:ln>
          <a:effectLst/>
          <a:scene3d>
            <a:camera prst="orthographicFront"/>
            <a:lightRig rig="threePt" dir="t"/>
          </a:scene3d>
          <a:sp3d>
            <a:bevelT/>
          </a:sp3d>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4009525095039416"/>
                  <c:h val="5.2290267867564889E-2"/>
                </c:manualLayout>
              </c15:layout>
            </c:ext>
          </c:extLst>
        </c:dLbl>
      </c:pivotFmt>
      <c:pivotFmt>
        <c:idx val="21"/>
        <c:spPr>
          <a:solidFill>
            <a:srgbClr val="FFC000"/>
          </a:solidFill>
          <a:ln>
            <a:noFill/>
          </a:ln>
          <a:effectLst/>
          <a:scene3d>
            <a:camera prst="orthographicFront"/>
            <a:lightRig rig="threePt" dir="t"/>
          </a:scene3d>
          <a:sp3d>
            <a:bevelT/>
          </a:sp3d>
        </c:spPr>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6056372929228622"/>
                  <c:h val="5.2290267867564889E-2"/>
                </c:manualLayout>
              </c15:layout>
            </c:ext>
          </c:extLst>
        </c:dLbl>
      </c:pivotFmt>
    </c:pivotFmts>
    <c:plotArea>
      <c:layout>
        <c:manualLayout>
          <c:layoutTarget val="inner"/>
          <c:xMode val="edge"/>
          <c:yMode val="edge"/>
          <c:x val="1.5241450913211026E-2"/>
          <c:y val="1.5748901235358308E-2"/>
          <c:w val="0.97452439584103845"/>
          <c:h val="0.84930443818600232"/>
        </c:manualLayout>
      </c:layout>
      <c:barChart>
        <c:barDir val="col"/>
        <c:grouping val="clustered"/>
        <c:varyColors val="0"/>
        <c:ser>
          <c:idx val="0"/>
          <c:order val="0"/>
          <c:tx>
            <c:strRef>
              <c:f>pivot!$B$28</c:f>
              <c:strCache>
                <c:ptCount val="1"/>
                <c:pt idx="0">
                  <c:v>Total</c:v>
                </c:pt>
              </c:strCache>
            </c:strRef>
          </c:tx>
          <c:spPr>
            <a:solidFill>
              <a:schemeClr val="accent1"/>
            </a:solidFill>
            <a:ln>
              <a:noFill/>
            </a:ln>
            <a:effectLst/>
            <a:scene3d>
              <a:camera prst="orthographicFront"/>
              <a:lightRig rig="threePt" dir="t"/>
            </a:scene3d>
            <a:sp3d>
              <a:bevelT/>
            </a:sp3d>
          </c:spPr>
          <c:invertIfNegative val="0"/>
          <c:dPt>
            <c:idx val="0"/>
            <c:invertIfNegative val="0"/>
            <c:bubble3D val="0"/>
            <c:spPr>
              <a:solidFill>
                <a:srgbClr val="00F017"/>
              </a:solidFill>
              <a:ln>
                <a:noFill/>
              </a:ln>
              <a:effectLst/>
              <a:scene3d>
                <a:camera prst="orthographicFront"/>
                <a:lightRig rig="threePt" dir="t"/>
              </a:scene3d>
              <a:sp3d>
                <a:bevelT/>
              </a:sp3d>
            </c:spPr>
            <c:extLst>
              <c:ext xmlns:c16="http://schemas.microsoft.com/office/drawing/2014/chart" uri="{C3380CC4-5D6E-409C-BE32-E72D297353CC}">
                <c16:uniqueId val="{00000001-BDDC-4603-A9C6-7F6B9DFE2B53}"/>
              </c:ext>
            </c:extLst>
          </c:dPt>
          <c:dPt>
            <c:idx val="1"/>
            <c:invertIfNegative val="0"/>
            <c:bubble3D val="0"/>
            <c:spPr>
              <a:solidFill>
                <a:srgbClr val="C00000"/>
              </a:solidFill>
              <a:ln>
                <a:noFill/>
              </a:ln>
              <a:effectLst/>
              <a:scene3d>
                <a:camera prst="orthographicFront"/>
                <a:lightRig rig="threePt" dir="t"/>
              </a:scene3d>
              <a:sp3d>
                <a:bevelT/>
              </a:sp3d>
            </c:spPr>
            <c:extLst>
              <c:ext xmlns:c16="http://schemas.microsoft.com/office/drawing/2014/chart" uri="{C3380CC4-5D6E-409C-BE32-E72D297353CC}">
                <c16:uniqueId val="{00000003-BDDC-4603-A9C6-7F6B9DFE2B53}"/>
              </c:ext>
            </c:extLst>
          </c:dPt>
          <c:dPt>
            <c:idx val="2"/>
            <c:invertIfNegative val="0"/>
            <c:bubble3D val="0"/>
            <c:spPr>
              <a:solidFill>
                <a:srgbClr val="FFC000"/>
              </a:solidFill>
              <a:ln>
                <a:noFill/>
              </a:ln>
              <a:effectLst/>
              <a:scene3d>
                <a:camera prst="orthographicFront"/>
                <a:lightRig rig="threePt" dir="t"/>
              </a:scene3d>
              <a:sp3d>
                <a:bevelT/>
              </a:sp3d>
            </c:spPr>
            <c:extLst>
              <c:ext xmlns:c16="http://schemas.microsoft.com/office/drawing/2014/chart" uri="{C3380CC4-5D6E-409C-BE32-E72D297353CC}">
                <c16:uniqueId val="{00000005-BDDC-4603-A9C6-7F6B9DFE2B53}"/>
              </c:ext>
            </c:extLst>
          </c:dPt>
          <c:dLbls>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7079796846323223"/>
                      <c:h val="5.7056928566522495E-2"/>
                    </c:manualLayout>
                  </c15:layout>
                </c:ext>
                <c:ext xmlns:c16="http://schemas.microsoft.com/office/drawing/2014/chart" uri="{C3380CC4-5D6E-409C-BE32-E72D297353CC}">
                  <c16:uniqueId val="{00000001-BDDC-4603-A9C6-7F6B9DFE2B53}"/>
                </c:ext>
              </c:extLst>
            </c:dLbl>
            <c:dLbl>
              <c:idx val="1"/>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4009525095039416"/>
                      <c:h val="5.2290267867564889E-2"/>
                    </c:manualLayout>
                  </c15:layout>
                </c:ext>
                <c:ext xmlns:c16="http://schemas.microsoft.com/office/drawing/2014/chart" uri="{C3380CC4-5D6E-409C-BE32-E72D297353CC}">
                  <c16:uniqueId val="{00000003-BDDC-4603-A9C6-7F6B9DFE2B53}"/>
                </c:ext>
              </c:extLst>
            </c:dLbl>
            <c:dLbl>
              <c:idx val="2"/>
              <c:spPr>
                <a:noFill/>
                <a:ln>
                  <a:noFill/>
                </a:ln>
                <a:effectLst/>
              </c:spPr>
              <c:txPr>
                <a:bodyPr rot="0" spcFirstLastPara="1" vertOverflow="ellipsis" vert="horz" wrap="square" lIns="38100" tIns="19050" rIns="38100" bIns="19050" anchor="ctr" anchorCtr="1">
                  <a:no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6056372929228622"/>
                      <c:h val="5.2290267867564889E-2"/>
                    </c:manualLayout>
                  </c15:layout>
                </c:ext>
                <c:ext xmlns:c16="http://schemas.microsoft.com/office/drawing/2014/chart" uri="{C3380CC4-5D6E-409C-BE32-E72D297353CC}">
                  <c16:uniqueId val="{00000005-BDDC-4603-A9C6-7F6B9DFE2B53}"/>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pivot!$A$29:$A$32</c:f>
              <c:strCache>
                <c:ptCount val="3"/>
                <c:pt idx="0">
                  <c:v>Furniture</c:v>
                </c:pt>
                <c:pt idx="1">
                  <c:v>Office Supplies</c:v>
                </c:pt>
                <c:pt idx="2">
                  <c:v>Technology</c:v>
                </c:pt>
              </c:strCache>
            </c:strRef>
          </c:cat>
          <c:val>
            <c:numRef>
              <c:f>pivot!$B$29:$B$32</c:f>
              <c:numCache>
                <c:formatCode>General</c:formatCode>
                <c:ptCount val="3"/>
                <c:pt idx="0">
                  <c:v>77577456</c:v>
                </c:pt>
                <c:pt idx="1">
                  <c:v>77664507</c:v>
                </c:pt>
                <c:pt idx="2">
                  <c:v>92199050</c:v>
                </c:pt>
              </c:numCache>
            </c:numRef>
          </c:val>
          <c:extLst>
            <c:ext xmlns:c16="http://schemas.microsoft.com/office/drawing/2014/chart" uri="{C3380CC4-5D6E-409C-BE32-E72D297353CC}">
              <c16:uniqueId val="{00000006-BDDC-4603-A9C6-7F6B9DFE2B53}"/>
            </c:ext>
          </c:extLst>
        </c:ser>
        <c:dLbls>
          <c:dLblPos val="outEnd"/>
          <c:showLegendKey val="0"/>
          <c:showVal val="1"/>
          <c:showCatName val="0"/>
          <c:showSerName val="0"/>
          <c:showPercent val="0"/>
          <c:showBubbleSize val="0"/>
        </c:dLbls>
        <c:gapWidth val="130"/>
        <c:overlap val="-24"/>
        <c:axId val="2032114688"/>
        <c:axId val="2032137984"/>
      </c:barChart>
      <c:catAx>
        <c:axId val="2032114688"/>
        <c:scaling>
          <c:orientation val="minMax"/>
        </c:scaling>
        <c:delete val="0"/>
        <c:axPos val="b"/>
        <c:numFmt formatCode="General" sourceLinked="1"/>
        <c:majorTickMark val="out"/>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2032137984"/>
        <c:crosses val="autoZero"/>
        <c:auto val="1"/>
        <c:lblAlgn val="ctr"/>
        <c:lblOffset val="100"/>
        <c:noMultiLvlLbl val="0"/>
      </c:catAx>
      <c:valAx>
        <c:axId val="2032137984"/>
        <c:scaling>
          <c:orientation val="minMax"/>
        </c:scaling>
        <c:delete val="1"/>
        <c:axPos val="l"/>
        <c:numFmt formatCode="General" sourceLinked="1"/>
        <c:majorTickMark val="out"/>
        <c:minorTickMark val="none"/>
        <c:tickLblPos val="nextTo"/>
        <c:crossAx val="20321146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jp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0.jpeg"/><Relationship Id="rId7" Type="http://schemas.openxmlformats.org/officeDocument/2006/relationships/image" Target="../media/image14.svg"/><Relationship Id="rId12" Type="http://schemas.openxmlformats.org/officeDocument/2006/relationships/image" Target="../media/image17.sv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6.png"/><Relationship Id="rId5" Type="http://schemas.openxmlformats.org/officeDocument/2006/relationships/image" Target="../media/image12.svg"/><Relationship Id="rId10" Type="http://schemas.openxmlformats.org/officeDocument/2006/relationships/image" Target="../media/image15.tmp"/><Relationship Id="rId4" Type="http://schemas.openxmlformats.org/officeDocument/2006/relationships/image" Target="../media/image11.png"/><Relationship Id="rId9"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0.tmp"/><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21.png"/><Relationship Id="rId7"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24.tmp"/><Relationship Id="rId4" Type="http://schemas.openxmlformats.org/officeDocument/2006/relationships/image" Target="../media/image22.svg"/><Relationship Id="rId9" Type="http://schemas.openxmlformats.org/officeDocument/2006/relationships/image" Target="../media/image23.tmp"/></Relationships>
</file>

<file path=ppt/slides/_rels/slide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6.tmp"/><Relationship Id="rId4" Type="http://schemas.openxmlformats.org/officeDocument/2006/relationships/image" Target="../media/image25.tmp"/></Relationships>
</file>

<file path=ppt/slides/_rels/slide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32.tmp"/><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30.svg"/><Relationship Id="rId11" Type="http://schemas.openxmlformats.org/officeDocument/2006/relationships/image" Target="../media/image31.tmp"/><Relationship Id="rId5" Type="http://schemas.openxmlformats.org/officeDocument/2006/relationships/image" Target="../media/image29.png"/><Relationship Id="rId10" Type="http://schemas.openxmlformats.org/officeDocument/2006/relationships/image" Target="../media/image3.svg"/><Relationship Id="rId4" Type="http://schemas.openxmlformats.org/officeDocument/2006/relationships/image" Target="../media/image28.sv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37.tmp"/><Relationship Id="rId3" Type="http://schemas.openxmlformats.org/officeDocument/2006/relationships/image" Target="../media/image19.svg"/><Relationship Id="rId7" Type="http://schemas.openxmlformats.org/officeDocument/2006/relationships/image" Target="../media/image36.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svg"/><Relationship Id="rId10" Type="http://schemas.openxmlformats.org/officeDocument/2006/relationships/chart" Target="../charts/chart1.xml"/><Relationship Id="rId4" Type="http://schemas.openxmlformats.org/officeDocument/2006/relationships/image" Target="../media/image33.png"/><Relationship Id="rId9" Type="http://schemas.openxmlformats.org/officeDocument/2006/relationships/image" Target="../media/image38.tmp"/></Relationships>
</file>

<file path=ppt/slides/_rels/slide8.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39.png"/><Relationship Id="rId7"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2.svg"/><Relationship Id="rId11" Type="http://schemas.openxmlformats.org/officeDocument/2006/relationships/image" Target="../media/image45.jpeg"/><Relationship Id="rId5" Type="http://schemas.openxmlformats.org/officeDocument/2006/relationships/image" Target="../media/image41.png"/><Relationship Id="rId10" Type="http://schemas.openxmlformats.org/officeDocument/2006/relationships/image" Target="../media/image44.tmp"/><Relationship Id="rId4" Type="http://schemas.openxmlformats.org/officeDocument/2006/relationships/image" Target="../media/image40.svg"/><Relationship Id="rId9" Type="http://schemas.openxmlformats.org/officeDocument/2006/relationships/image" Target="../media/image43.tmp"/></Relationships>
</file>

<file path=ppt/slides/_rels/slide9.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27.png"/><Relationship Id="rId7" Type="http://schemas.openxmlformats.org/officeDocument/2006/relationships/image" Target="../media/image13.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30.svg"/><Relationship Id="rId11" Type="http://schemas.openxmlformats.org/officeDocument/2006/relationships/image" Target="../media/image31.tmp"/><Relationship Id="rId5" Type="http://schemas.openxmlformats.org/officeDocument/2006/relationships/image" Target="../media/image29.png"/><Relationship Id="rId10" Type="http://schemas.openxmlformats.org/officeDocument/2006/relationships/image" Target="../media/image3.svg"/><Relationship Id="rId4" Type="http://schemas.openxmlformats.org/officeDocument/2006/relationships/image" Target="../media/image28.svg"/><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46.tmp"/><Relationship Id="rId3" Type="http://schemas.openxmlformats.org/officeDocument/2006/relationships/image" Target="../media/image3.svg"/><Relationship Id="rId7" Type="http://schemas.openxmlformats.org/officeDocument/2006/relationships/chart" Target="../charts/chart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hart" Target="../charts/chart2.xml"/><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47.tmp"/></Relationships>
</file>

<file path=ppt/slides/_rels/slide1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48.png"/><Relationship Id="rId7"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49.svg"/><Relationship Id="rId9"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50.png"/><Relationship Id="rId7"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51.sv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5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52.sv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7.svg"/><Relationship Id="rId3" Type="http://schemas.openxmlformats.org/officeDocument/2006/relationships/image" Target="../media/image54.jpeg"/><Relationship Id="rId7" Type="http://schemas.openxmlformats.org/officeDocument/2006/relationships/image" Target="../media/image58.svg"/><Relationship Id="rId12" Type="http://schemas.openxmlformats.org/officeDocument/2006/relationships/image" Target="../media/image16.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57.png"/><Relationship Id="rId11" Type="http://schemas.openxmlformats.org/officeDocument/2006/relationships/image" Target="../media/image3.svg"/><Relationship Id="rId5" Type="http://schemas.openxmlformats.org/officeDocument/2006/relationships/image" Target="../media/image56.svg"/><Relationship Id="rId10" Type="http://schemas.openxmlformats.org/officeDocument/2006/relationships/image" Target="../media/image2.png"/><Relationship Id="rId4" Type="http://schemas.openxmlformats.org/officeDocument/2006/relationships/image" Target="../media/image55.png"/><Relationship Id="rId9" Type="http://schemas.openxmlformats.org/officeDocument/2006/relationships/image" Target="../media/image7.svg"/><Relationship Id="rId14" Type="http://schemas.openxmlformats.org/officeDocument/2006/relationships/hyperlink" Target="http://www.linkedin.com/in/rimi-singha-3093b532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9865" y="-122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727423" y="2007415"/>
            <a:ext cx="9029001" cy="5720081"/>
            <a:chOff x="0" y="0"/>
            <a:chExt cx="2378009" cy="1343306"/>
          </a:xfrm>
        </p:grpSpPr>
        <p:sp>
          <p:nvSpPr>
            <p:cNvPr id="4" name="Freeform 4"/>
            <p:cNvSpPr/>
            <p:nvPr/>
          </p:nvSpPr>
          <p:spPr>
            <a:xfrm>
              <a:off x="0" y="0"/>
              <a:ext cx="2378009" cy="1343306"/>
            </a:xfrm>
            <a:custGeom>
              <a:avLst/>
              <a:gdLst/>
              <a:ahLst/>
              <a:cxnLst/>
              <a:rect l="l" t="t" r="r" b="b"/>
              <a:pathLst>
                <a:path w="2378009" h="1343306">
                  <a:moveTo>
                    <a:pt x="43730" y="0"/>
                  </a:moveTo>
                  <a:lnTo>
                    <a:pt x="2334279" y="0"/>
                  </a:lnTo>
                  <a:cubicBezTo>
                    <a:pt x="2345876" y="0"/>
                    <a:pt x="2356999" y="4607"/>
                    <a:pt x="2365200" y="12808"/>
                  </a:cubicBezTo>
                  <a:cubicBezTo>
                    <a:pt x="2373401" y="21009"/>
                    <a:pt x="2378009" y="32132"/>
                    <a:pt x="2378009" y="43730"/>
                  </a:cubicBezTo>
                  <a:lnTo>
                    <a:pt x="2378009" y="1299576"/>
                  </a:lnTo>
                  <a:cubicBezTo>
                    <a:pt x="2378009" y="1311174"/>
                    <a:pt x="2373401" y="1322297"/>
                    <a:pt x="2365200" y="1330498"/>
                  </a:cubicBezTo>
                  <a:cubicBezTo>
                    <a:pt x="2356999" y="1338699"/>
                    <a:pt x="2345876" y="1343306"/>
                    <a:pt x="2334279" y="1343306"/>
                  </a:cubicBezTo>
                  <a:lnTo>
                    <a:pt x="43730" y="1343306"/>
                  </a:lnTo>
                  <a:cubicBezTo>
                    <a:pt x="32132" y="1343306"/>
                    <a:pt x="21009" y="1338699"/>
                    <a:pt x="12808" y="1330498"/>
                  </a:cubicBezTo>
                  <a:cubicBezTo>
                    <a:pt x="4607" y="1322297"/>
                    <a:pt x="0" y="1311174"/>
                    <a:pt x="0" y="1299576"/>
                  </a:cubicBezTo>
                  <a:lnTo>
                    <a:pt x="0" y="43730"/>
                  </a:lnTo>
                  <a:cubicBezTo>
                    <a:pt x="0" y="32132"/>
                    <a:pt x="4607" y="21009"/>
                    <a:pt x="12808" y="12808"/>
                  </a:cubicBezTo>
                  <a:cubicBezTo>
                    <a:pt x="21009" y="4607"/>
                    <a:pt x="32132" y="0"/>
                    <a:pt x="43730" y="0"/>
                  </a:cubicBezTo>
                  <a:close/>
                </a:path>
              </a:pathLst>
            </a:custGeom>
            <a:solidFill>
              <a:srgbClr val="243458"/>
            </a:solidFill>
            <a:ln w="38100" cap="rnd">
              <a:solidFill>
                <a:srgbClr val="FFFFFF"/>
              </a:solidFill>
              <a:prstDash val="solid"/>
              <a:round/>
            </a:ln>
          </p:spPr>
        </p:sp>
        <p:sp>
          <p:nvSpPr>
            <p:cNvPr id="5" name="TextBox 5"/>
            <p:cNvSpPr txBox="1"/>
            <p:nvPr/>
          </p:nvSpPr>
          <p:spPr>
            <a:xfrm>
              <a:off x="0" y="-57150"/>
              <a:ext cx="2378009" cy="1400456"/>
            </a:xfrm>
            <a:prstGeom prst="rect">
              <a:avLst/>
            </a:prstGeom>
          </p:spPr>
          <p:txBody>
            <a:bodyPr lIns="50800" tIns="50800" rIns="50800" bIns="50800" rtlCol="0" anchor="ctr"/>
            <a:lstStyle/>
            <a:p>
              <a:pPr algn="ctr">
                <a:lnSpc>
                  <a:spcPts val="3220"/>
                </a:lnSpc>
              </a:pPr>
              <a:endParaRPr/>
            </a:p>
          </p:txBody>
        </p:sp>
      </p:grpSp>
      <p:sp>
        <p:nvSpPr>
          <p:cNvPr id="7" name="TextBox 7"/>
          <p:cNvSpPr txBox="1"/>
          <p:nvPr/>
        </p:nvSpPr>
        <p:spPr>
          <a:xfrm>
            <a:off x="1292928" y="3040507"/>
            <a:ext cx="8188173" cy="3156185"/>
          </a:xfrm>
          <a:prstGeom prst="rect">
            <a:avLst/>
          </a:prstGeom>
        </p:spPr>
        <p:txBody>
          <a:bodyPr lIns="0" tIns="0" rIns="0" bIns="0" rtlCol="0" anchor="t">
            <a:spAutoFit/>
          </a:bodyPr>
          <a:lstStyle/>
          <a:p>
            <a:pPr algn="l">
              <a:lnSpc>
                <a:spcPts val="8908"/>
              </a:lnSpc>
            </a:pPr>
            <a:r>
              <a:rPr lang="en-US" sz="8325" b="1" dirty="0">
                <a:solidFill>
                  <a:srgbClr val="FFFFFF"/>
                </a:solidFill>
                <a:latin typeface="Agrandir Bold"/>
                <a:ea typeface="Agrandir Bold"/>
                <a:cs typeface="Agrandir Bold"/>
                <a:sym typeface="Agrandir Bold"/>
              </a:rPr>
              <a:t>City Centre Mall</a:t>
            </a:r>
          </a:p>
          <a:p>
            <a:pPr algn="l">
              <a:lnSpc>
                <a:spcPts val="6126"/>
              </a:lnSpc>
            </a:pPr>
            <a:endParaRPr lang="en-US" sz="8325" b="1" dirty="0">
              <a:solidFill>
                <a:srgbClr val="FFFFFF"/>
              </a:solidFill>
              <a:latin typeface="Agrandir Bold"/>
              <a:ea typeface="Agrandir Bold"/>
              <a:cs typeface="Agrandir Bold"/>
              <a:sym typeface="Agrandir Bold"/>
            </a:endParaRPr>
          </a:p>
        </p:txBody>
      </p:sp>
      <p:grpSp>
        <p:nvGrpSpPr>
          <p:cNvPr id="8" name="Group 8"/>
          <p:cNvGrpSpPr/>
          <p:nvPr/>
        </p:nvGrpSpPr>
        <p:grpSpPr>
          <a:xfrm>
            <a:off x="17012396" y="2647146"/>
            <a:ext cx="1543050" cy="781016"/>
            <a:chOff x="0" y="0"/>
            <a:chExt cx="406400" cy="205700"/>
          </a:xfrm>
        </p:grpSpPr>
        <p:sp>
          <p:nvSpPr>
            <p:cNvPr id="9" name="Freeform 9"/>
            <p:cNvSpPr/>
            <p:nvPr/>
          </p:nvSpPr>
          <p:spPr>
            <a:xfrm>
              <a:off x="0" y="0"/>
              <a:ext cx="406400" cy="205700"/>
            </a:xfrm>
            <a:custGeom>
              <a:avLst/>
              <a:gdLst/>
              <a:ahLst/>
              <a:cxnLst/>
              <a:rect l="l" t="t" r="r" b="b"/>
              <a:pathLst>
                <a:path w="406400" h="205700">
                  <a:moveTo>
                    <a:pt x="0" y="0"/>
                  </a:moveTo>
                  <a:lnTo>
                    <a:pt x="406400" y="0"/>
                  </a:lnTo>
                  <a:lnTo>
                    <a:pt x="406400" y="205700"/>
                  </a:lnTo>
                  <a:lnTo>
                    <a:pt x="0" y="205700"/>
                  </a:lnTo>
                  <a:close/>
                </a:path>
              </a:pathLst>
            </a:custGeom>
            <a:solidFill>
              <a:srgbClr val="243458"/>
            </a:solidFill>
          </p:spPr>
        </p:sp>
        <p:sp>
          <p:nvSpPr>
            <p:cNvPr id="10" name="TextBox 10"/>
            <p:cNvSpPr txBox="1"/>
            <p:nvPr/>
          </p:nvSpPr>
          <p:spPr>
            <a:xfrm>
              <a:off x="0" y="-57150"/>
              <a:ext cx="406400" cy="262850"/>
            </a:xfrm>
            <a:prstGeom prst="rect">
              <a:avLst/>
            </a:prstGeom>
          </p:spPr>
          <p:txBody>
            <a:bodyPr lIns="50800" tIns="50800" rIns="50800" bIns="50800" rtlCol="0" anchor="ctr"/>
            <a:lstStyle/>
            <a:p>
              <a:pPr algn="ctr">
                <a:lnSpc>
                  <a:spcPts val="3220"/>
                </a:lnSpc>
              </a:pPr>
              <a:endParaRPr/>
            </a:p>
          </p:txBody>
        </p:sp>
      </p:grpSp>
      <p:sp>
        <p:nvSpPr>
          <p:cNvPr id="12" name="Freeform 12"/>
          <p:cNvSpPr/>
          <p:nvPr/>
        </p:nvSpPr>
        <p:spPr>
          <a:xfrm rot="-5400000">
            <a:off x="-2109469" y="4316898"/>
            <a:ext cx="4218937" cy="1065282"/>
          </a:xfrm>
          <a:custGeom>
            <a:avLst/>
            <a:gdLst/>
            <a:ahLst/>
            <a:cxnLst/>
            <a:rect l="l" t="t" r="r" b="b"/>
            <a:pathLst>
              <a:path w="4218937" h="1065282">
                <a:moveTo>
                  <a:pt x="0" y="0"/>
                </a:moveTo>
                <a:lnTo>
                  <a:pt x="4218938" y="0"/>
                </a:lnTo>
                <a:lnTo>
                  <a:pt x="4218938" y="1065282"/>
                </a:lnTo>
                <a:lnTo>
                  <a:pt x="0" y="10652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8101013" y="9258300"/>
            <a:ext cx="2760177" cy="2904689"/>
          </a:xfrm>
          <a:custGeom>
            <a:avLst/>
            <a:gdLst/>
            <a:ahLst/>
            <a:cxnLst/>
            <a:rect l="l" t="t" r="r" b="b"/>
            <a:pathLst>
              <a:path w="2760177" h="2904689">
                <a:moveTo>
                  <a:pt x="0" y="0"/>
                </a:moveTo>
                <a:lnTo>
                  <a:pt x="2760177" y="0"/>
                </a:lnTo>
                <a:lnTo>
                  <a:pt x="2760177" y="2904689"/>
                </a:lnTo>
                <a:lnTo>
                  <a:pt x="0" y="29046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rot="420662" flipH="1" flipV="1">
            <a:off x="5589008" y="-547697"/>
            <a:ext cx="3830266" cy="4114800"/>
          </a:xfrm>
          <a:custGeom>
            <a:avLst/>
            <a:gdLst/>
            <a:ahLst/>
            <a:cxnLst/>
            <a:rect l="l" t="t" r="r" b="b"/>
            <a:pathLst>
              <a:path w="3830266" h="4114800">
                <a:moveTo>
                  <a:pt x="3830266" y="4114800"/>
                </a:moveTo>
                <a:lnTo>
                  <a:pt x="0" y="4114800"/>
                </a:lnTo>
                <a:lnTo>
                  <a:pt x="0" y="0"/>
                </a:lnTo>
                <a:lnTo>
                  <a:pt x="3830266" y="0"/>
                </a:lnTo>
                <a:lnTo>
                  <a:pt x="3830266" y="411480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14" name="Freeform 14"/>
          <p:cNvSpPr/>
          <p:nvPr/>
        </p:nvSpPr>
        <p:spPr>
          <a:xfrm>
            <a:off x="-1731477" y="-1875989"/>
            <a:ext cx="2760177" cy="2904689"/>
          </a:xfrm>
          <a:custGeom>
            <a:avLst/>
            <a:gdLst/>
            <a:ahLst/>
            <a:cxnLst/>
            <a:rect l="l" t="t" r="r" b="b"/>
            <a:pathLst>
              <a:path w="2760177" h="2904689">
                <a:moveTo>
                  <a:pt x="0" y="0"/>
                </a:moveTo>
                <a:lnTo>
                  <a:pt x="2760177" y="0"/>
                </a:lnTo>
                <a:lnTo>
                  <a:pt x="2760177" y="2904689"/>
                </a:lnTo>
                <a:lnTo>
                  <a:pt x="0" y="29046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6" name="TextBox 16"/>
          <p:cNvSpPr txBox="1"/>
          <p:nvPr/>
        </p:nvSpPr>
        <p:spPr>
          <a:xfrm>
            <a:off x="1390947" y="8019437"/>
            <a:ext cx="2639380" cy="424815"/>
          </a:xfrm>
          <a:prstGeom prst="rect">
            <a:avLst/>
          </a:prstGeom>
        </p:spPr>
        <p:txBody>
          <a:bodyPr lIns="0" tIns="0" rIns="0" bIns="0" rtlCol="0" anchor="t">
            <a:spAutoFit/>
          </a:bodyPr>
          <a:lstStyle/>
          <a:p>
            <a:pPr algn="l">
              <a:lnSpc>
                <a:spcPts val="3359"/>
              </a:lnSpc>
            </a:pPr>
            <a:r>
              <a:rPr lang="en-US" sz="2400">
                <a:solidFill>
                  <a:srgbClr val="243458"/>
                </a:solidFill>
                <a:latin typeface="Poppins"/>
                <a:ea typeface="Poppins"/>
                <a:cs typeface="Poppins"/>
                <a:sym typeface="Poppins"/>
              </a:rPr>
              <a:t>Presented By:</a:t>
            </a:r>
          </a:p>
        </p:txBody>
      </p:sp>
      <p:sp>
        <p:nvSpPr>
          <p:cNvPr id="17" name="TextBox 17"/>
          <p:cNvSpPr txBox="1"/>
          <p:nvPr/>
        </p:nvSpPr>
        <p:spPr>
          <a:xfrm>
            <a:off x="3855665" y="8368052"/>
            <a:ext cx="3703236" cy="523875"/>
          </a:xfrm>
          <a:prstGeom prst="rect">
            <a:avLst/>
          </a:prstGeom>
        </p:spPr>
        <p:txBody>
          <a:bodyPr lIns="0" tIns="0" rIns="0" bIns="0" rtlCol="0" anchor="t">
            <a:spAutoFit/>
          </a:bodyPr>
          <a:lstStyle/>
          <a:p>
            <a:pPr algn="l">
              <a:lnSpc>
                <a:spcPts val="4199"/>
              </a:lnSpc>
            </a:pPr>
            <a:r>
              <a:rPr lang="en-US" sz="2999" b="1">
                <a:solidFill>
                  <a:srgbClr val="243458"/>
                </a:solidFill>
                <a:latin typeface="Poppins Bold"/>
                <a:ea typeface="Poppins Bold"/>
                <a:cs typeface="Poppins Bold"/>
                <a:sym typeface="Poppins Bold"/>
              </a:rPr>
              <a:t>RIMI SINGHA</a:t>
            </a:r>
          </a:p>
        </p:txBody>
      </p:sp>
      <p:sp>
        <p:nvSpPr>
          <p:cNvPr id="18" name="TextBox 18"/>
          <p:cNvSpPr txBox="1"/>
          <p:nvPr/>
        </p:nvSpPr>
        <p:spPr>
          <a:xfrm>
            <a:off x="1403498" y="5700138"/>
            <a:ext cx="7753053" cy="1332248"/>
          </a:xfrm>
          <a:prstGeom prst="rect">
            <a:avLst/>
          </a:prstGeom>
        </p:spPr>
        <p:txBody>
          <a:bodyPr lIns="0" tIns="0" rIns="0" bIns="0" rtlCol="0" anchor="t">
            <a:spAutoFit/>
          </a:bodyPr>
          <a:lstStyle/>
          <a:p>
            <a:pPr algn="l">
              <a:lnSpc>
                <a:spcPts val="3527"/>
              </a:lnSpc>
            </a:pPr>
            <a:r>
              <a:rPr lang="en-US" sz="2519" i="1" dirty="0">
                <a:solidFill>
                  <a:srgbClr val="FFFFFF"/>
                </a:solidFill>
                <a:latin typeface="Poppins"/>
                <a:ea typeface="Poppins"/>
                <a:cs typeface="Poppins"/>
                <a:sym typeface="Poppins"/>
              </a:rPr>
              <a:t>Max, Archies, Adidas, Apple Store, Biba, Carbon, Crocodile, Crossword, </a:t>
            </a:r>
            <a:r>
              <a:rPr lang="en-US" sz="2519" i="1" dirty="0" err="1">
                <a:solidFill>
                  <a:srgbClr val="FFFFFF"/>
                </a:solidFill>
                <a:latin typeface="Poppins"/>
                <a:ea typeface="Poppins"/>
                <a:cs typeface="Poppins"/>
                <a:sym typeface="Poppins"/>
              </a:rPr>
              <a:t>FabIndia</a:t>
            </a:r>
            <a:r>
              <a:rPr lang="en-US" sz="2519" i="1" dirty="0">
                <a:solidFill>
                  <a:srgbClr val="FFFFFF"/>
                </a:solidFill>
                <a:latin typeface="Poppins"/>
                <a:ea typeface="Poppins"/>
                <a:cs typeface="Poppins"/>
                <a:sym typeface="Poppins"/>
              </a:rPr>
              <a:t>, Metro Shoes, Mufti, Music World and Titan </a:t>
            </a:r>
          </a:p>
        </p:txBody>
      </p:sp>
      <p:pic>
        <p:nvPicPr>
          <p:cNvPr id="20" name="Picture 19" descr="A large shopping mall with many shops&#10;&#10;AI-generated content may be incorrect.">
            <a:extLst>
              <a:ext uri="{FF2B5EF4-FFF2-40B4-BE49-F238E27FC236}">
                <a16:creationId xmlns:a16="http://schemas.microsoft.com/office/drawing/2014/main" id="{5C7A7CF5-EE8F-2705-ACD7-31C5562BCE22}"/>
              </a:ext>
            </a:extLst>
          </p:cNvPr>
          <p:cNvPicPr>
            <a:picLocks noChangeAspect="1"/>
          </p:cNvPicPr>
          <p:nvPr/>
        </p:nvPicPr>
        <p:blipFill>
          <a:blip r:embed="rId9">
            <a:extLst>
              <a:ext uri="{28A0092B-C50C-407E-A947-70E740481C1C}">
                <a14:useLocalDpi xmlns:a14="http://schemas.microsoft.com/office/drawing/2010/main" val="0"/>
              </a:ext>
            </a:extLst>
          </a:blip>
          <a:srcRect l="7713" r="9123"/>
          <a:stretch>
            <a:fillRect/>
          </a:stretch>
        </p:blipFill>
        <p:spPr>
          <a:xfrm>
            <a:off x="9423287" y="1564117"/>
            <a:ext cx="7499315" cy="572008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3162496" y="3683844"/>
            <a:ext cx="6366664" cy="3757033"/>
            <a:chOff x="0" y="0"/>
            <a:chExt cx="967334" cy="570833"/>
          </a:xfrm>
        </p:grpSpPr>
        <p:sp>
          <p:nvSpPr>
            <p:cNvPr id="4" name="Freeform 4"/>
            <p:cNvSpPr/>
            <p:nvPr/>
          </p:nvSpPr>
          <p:spPr>
            <a:xfrm>
              <a:off x="0" y="0"/>
              <a:ext cx="967334" cy="570833"/>
            </a:xfrm>
            <a:custGeom>
              <a:avLst/>
              <a:gdLst/>
              <a:ahLst/>
              <a:cxnLst/>
              <a:rect l="l" t="t" r="r" b="b"/>
              <a:pathLst>
                <a:path w="967334" h="570833">
                  <a:moveTo>
                    <a:pt x="30400" y="0"/>
                  </a:moveTo>
                  <a:lnTo>
                    <a:pt x="936933" y="0"/>
                  </a:lnTo>
                  <a:cubicBezTo>
                    <a:pt x="944996" y="0"/>
                    <a:pt x="952728" y="3203"/>
                    <a:pt x="958430" y="8904"/>
                  </a:cubicBezTo>
                  <a:cubicBezTo>
                    <a:pt x="964131" y="14605"/>
                    <a:pt x="967334" y="22338"/>
                    <a:pt x="967334" y="30400"/>
                  </a:cubicBezTo>
                  <a:lnTo>
                    <a:pt x="967334" y="540433"/>
                  </a:lnTo>
                  <a:cubicBezTo>
                    <a:pt x="967334" y="557223"/>
                    <a:pt x="953723" y="570833"/>
                    <a:pt x="936933" y="570833"/>
                  </a:cubicBezTo>
                  <a:lnTo>
                    <a:pt x="30400" y="570833"/>
                  </a:lnTo>
                  <a:cubicBezTo>
                    <a:pt x="22338" y="570833"/>
                    <a:pt x="14605" y="567631"/>
                    <a:pt x="8904" y="561929"/>
                  </a:cubicBezTo>
                  <a:cubicBezTo>
                    <a:pt x="3203" y="556228"/>
                    <a:pt x="0" y="548496"/>
                    <a:pt x="0" y="540433"/>
                  </a:cubicBezTo>
                  <a:lnTo>
                    <a:pt x="0" y="30400"/>
                  </a:lnTo>
                  <a:cubicBezTo>
                    <a:pt x="0" y="22338"/>
                    <a:pt x="3203" y="14605"/>
                    <a:pt x="8904" y="8904"/>
                  </a:cubicBezTo>
                  <a:cubicBezTo>
                    <a:pt x="14605" y="3203"/>
                    <a:pt x="22338" y="0"/>
                    <a:pt x="30400" y="0"/>
                  </a:cubicBezTo>
                  <a:close/>
                </a:path>
              </a:pathLst>
            </a:custGeom>
            <a:solidFill>
              <a:srgbClr val="000000">
                <a:alpha val="0"/>
              </a:srgbClr>
            </a:solidFill>
            <a:ln w="12700" cap="rnd">
              <a:solidFill>
                <a:srgbClr val="000000"/>
              </a:solidFill>
              <a:prstDash val="solid"/>
              <a:round/>
            </a:ln>
          </p:spPr>
        </p:sp>
      </p:grpSp>
      <p:grpSp>
        <p:nvGrpSpPr>
          <p:cNvPr id="5" name="Group 5"/>
          <p:cNvGrpSpPr/>
          <p:nvPr/>
        </p:nvGrpSpPr>
        <p:grpSpPr>
          <a:xfrm>
            <a:off x="9822415" y="2053485"/>
            <a:ext cx="7183614" cy="8149710"/>
            <a:chOff x="0" y="0"/>
            <a:chExt cx="1891981" cy="2146426"/>
          </a:xfrm>
        </p:grpSpPr>
        <p:sp>
          <p:nvSpPr>
            <p:cNvPr id="6" name="Freeform 6"/>
            <p:cNvSpPr/>
            <p:nvPr/>
          </p:nvSpPr>
          <p:spPr>
            <a:xfrm>
              <a:off x="0" y="0"/>
              <a:ext cx="1891981" cy="2146426"/>
            </a:xfrm>
            <a:custGeom>
              <a:avLst/>
              <a:gdLst/>
              <a:ahLst/>
              <a:cxnLst/>
              <a:rect l="l" t="t" r="r" b="b"/>
              <a:pathLst>
                <a:path w="1891981" h="2146426">
                  <a:moveTo>
                    <a:pt x="54964" y="0"/>
                  </a:moveTo>
                  <a:lnTo>
                    <a:pt x="1837017" y="0"/>
                  </a:lnTo>
                  <a:cubicBezTo>
                    <a:pt x="1851594" y="0"/>
                    <a:pt x="1865574" y="5791"/>
                    <a:pt x="1875882" y="16098"/>
                  </a:cubicBezTo>
                  <a:cubicBezTo>
                    <a:pt x="1886190" y="26406"/>
                    <a:pt x="1891981" y="40386"/>
                    <a:pt x="1891981" y="54964"/>
                  </a:cubicBezTo>
                  <a:lnTo>
                    <a:pt x="1891981" y="2091462"/>
                  </a:lnTo>
                  <a:cubicBezTo>
                    <a:pt x="1891981" y="2106039"/>
                    <a:pt x="1886190" y="2120020"/>
                    <a:pt x="1875882" y="2130327"/>
                  </a:cubicBezTo>
                  <a:cubicBezTo>
                    <a:pt x="1865574" y="2140635"/>
                    <a:pt x="1851594" y="2146426"/>
                    <a:pt x="1837017" y="2146426"/>
                  </a:cubicBezTo>
                  <a:lnTo>
                    <a:pt x="54964" y="2146426"/>
                  </a:lnTo>
                  <a:cubicBezTo>
                    <a:pt x="40386" y="2146426"/>
                    <a:pt x="26406" y="2140635"/>
                    <a:pt x="16098" y="2130327"/>
                  </a:cubicBezTo>
                  <a:cubicBezTo>
                    <a:pt x="5791" y="2120020"/>
                    <a:pt x="0" y="2106039"/>
                    <a:pt x="0" y="2091462"/>
                  </a:cubicBezTo>
                  <a:lnTo>
                    <a:pt x="0" y="54964"/>
                  </a:lnTo>
                  <a:cubicBezTo>
                    <a:pt x="0" y="40386"/>
                    <a:pt x="5791" y="26406"/>
                    <a:pt x="16098" y="16098"/>
                  </a:cubicBezTo>
                  <a:cubicBezTo>
                    <a:pt x="26406" y="5791"/>
                    <a:pt x="40386" y="0"/>
                    <a:pt x="54964" y="0"/>
                  </a:cubicBezTo>
                  <a:close/>
                </a:path>
              </a:pathLst>
            </a:custGeom>
            <a:solidFill>
              <a:srgbClr val="243458"/>
            </a:solidFill>
          </p:spPr>
        </p:sp>
        <p:sp>
          <p:nvSpPr>
            <p:cNvPr id="7" name="TextBox 7"/>
            <p:cNvSpPr txBox="1"/>
            <p:nvPr/>
          </p:nvSpPr>
          <p:spPr>
            <a:xfrm>
              <a:off x="0" y="-57150"/>
              <a:ext cx="1891981" cy="2203576"/>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a:off x="10421740" y="876301"/>
            <a:ext cx="5885060" cy="3406390"/>
            <a:chOff x="0" y="0"/>
            <a:chExt cx="830722" cy="448751"/>
          </a:xfrm>
        </p:grpSpPr>
        <p:sp>
          <p:nvSpPr>
            <p:cNvPr id="9" name="Freeform 9"/>
            <p:cNvSpPr/>
            <p:nvPr/>
          </p:nvSpPr>
          <p:spPr>
            <a:xfrm>
              <a:off x="0" y="0"/>
              <a:ext cx="830722" cy="448751"/>
            </a:xfrm>
            <a:custGeom>
              <a:avLst/>
              <a:gdLst/>
              <a:ahLst/>
              <a:cxnLst/>
              <a:rect l="l" t="t" r="r" b="b"/>
              <a:pathLst>
                <a:path w="830722" h="448751">
                  <a:moveTo>
                    <a:pt x="73631" y="0"/>
                  </a:moveTo>
                  <a:lnTo>
                    <a:pt x="757091" y="0"/>
                  </a:lnTo>
                  <a:cubicBezTo>
                    <a:pt x="797756" y="0"/>
                    <a:pt x="830722" y="32966"/>
                    <a:pt x="830722" y="73631"/>
                  </a:cubicBezTo>
                  <a:lnTo>
                    <a:pt x="830722" y="375120"/>
                  </a:lnTo>
                  <a:cubicBezTo>
                    <a:pt x="830722" y="415785"/>
                    <a:pt x="797756" y="448751"/>
                    <a:pt x="757091" y="448751"/>
                  </a:cubicBezTo>
                  <a:lnTo>
                    <a:pt x="73631" y="448751"/>
                  </a:lnTo>
                  <a:cubicBezTo>
                    <a:pt x="32966" y="448751"/>
                    <a:pt x="0" y="415785"/>
                    <a:pt x="0" y="375120"/>
                  </a:cubicBezTo>
                  <a:lnTo>
                    <a:pt x="0" y="73631"/>
                  </a:lnTo>
                  <a:cubicBezTo>
                    <a:pt x="0" y="32966"/>
                    <a:pt x="32966" y="0"/>
                    <a:pt x="73631" y="0"/>
                  </a:cubicBezTo>
                  <a:close/>
                </a:path>
              </a:pathLst>
            </a:custGeom>
            <a:blipFill>
              <a:blip r:embed="rId3"/>
              <a:stretch>
                <a:fillRect t="-11667" b="-11667"/>
              </a:stretch>
            </a:blipFill>
            <a:ln w="38100" cap="rnd">
              <a:solidFill>
                <a:srgbClr val="FFFFFF"/>
              </a:solidFill>
              <a:prstDash val="solid"/>
              <a:round/>
            </a:ln>
          </p:spPr>
        </p:sp>
      </p:grpSp>
      <p:grpSp>
        <p:nvGrpSpPr>
          <p:cNvPr id="10" name="Group 10"/>
          <p:cNvGrpSpPr/>
          <p:nvPr/>
        </p:nvGrpSpPr>
        <p:grpSpPr>
          <a:xfrm rot="370714">
            <a:off x="-28062" y="9301728"/>
            <a:ext cx="3299013" cy="950002"/>
            <a:chOff x="0" y="0"/>
            <a:chExt cx="812800" cy="170728"/>
          </a:xfrm>
        </p:grpSpPr>
        <p:sp>
          <p:nvSpPr>
            <p:cNvPr id="11" name="Freeform 11"/>
            <p:cNvSpPr/>
            <p:nvPr/>
          </p:nvSpPr>
          <p:spPr>
            <a:xfrm>
              <a:off x="0" y="0"/>
              <a:ext cx="812800" cy="170728"/>
            </a:xfrm>
            <a:custGeom>
              <a:avLst/>
              <a:gdLst/>
              <a:ahLst/>
              <a:cxnLst/>
              <a:rect l="l" t="t" r="r" b="b"/>
              <a:pathLst>
                <a:path w="812800" h="170728">
                  <a:moveTo>
                    <a:pt x="406400" y="0"/>
                  </a:moveTo>
                  <a:cubicBezTo>
                    <a:pt x="181951" y="0"/>
                    <a:pt x="0" y="38219"/>
                    <a:pt x="0" y="85364"/>
                  </a:cubicBezTo>
                  <a:cubicBezTo>
                    <a:pt x="0" y="132509"/>
                    <a:pt x="181951" y="170728"/>
                    <a:pt x="406400" y="170728"/>
                  </a:cubicBezTo>
                  <a:cubicBezTo>
                    <a:pt x="630849" y="170728"/>
                    <a:pt x="812800" y="132509"/>
                    <a:pt x="812800" y="85364"/>
                  </a:cubicBezTo>
                  <a:cubicBezTo>
                    <a:pt x="812800" y="38219"/>
                    <a:pt x="630849" y="0"/>
                    <a:pt x="406400" y="0"/>
                  </a:cubicBezTo>
                  <a:close/>
                </a:path>
              </a:pathLst>
            </a:custGeom>
            <a:solidFill>
              <a:srgbClr val="DEDEDE"/>
            </a:solidFill>
          </p:spPr>
        </p:sp>
        <p:sp>
          <p:nvSpPr>
            <p:cNvPr id="12" name="TextBox 12"/>
            <p:cNvSpPr txBox="1"/>
            <p:nvPr/>
          </p:nvSpPr>
          <p:spPr>
            <a:xfrm>
              <a:off x="76200" y="-41144"/>
              <a:ext cx="660400" cy="195866"/>
            </a:xfrm>
            <a:prstGeom prst="rect">
              <a:avLst/>
            </a:prstGeom>
          </p:spPr>
          <p:txBody>
            <a:bodyPr lIns="50800" tIns="50800" rIns="50800" bIns="50800" rtlCol="0" anchor="ctr"/>
            <a:lstStyle/>
            <a:p>
              <a:pPr algn="ctr">
                <a:lnSpc>
                  <a:spcPts val="3220"/>
                </a:lnSpc>
              </a:pPr>
              <a:endParaRPr/>
            </a:p>
          </p:txBody>
        </p:sp>
      </p:grpSp>
      <p:sp>
        <p:nvSpPr>
          <p:cNvPr id="13" name="Freeform 13"/>
          <p:cNvSpPr/>
          <p:nvPr/>
        </p:nvSpPr>
        <p:spPr>
          <a:xfrm>
            <a:off x="-234005" y="4880750"/>
            <a:ext cx="3768783" cy="5143500"/>
          </a:xfrm>
          <a:custGeom>
            <a:avLst/>
            <a:gdLst/>
            <a:ahLst/>
            <a:cxnLst/>
            <a:rect l="l" t="t" r="r" b="b"/>
            <a:pathLst>
              <a:path w="3768783" h="5143500">
                <a:moveTo>
                  <a:pt x="0" y="0"/>
                </a:moveTo>
                <a:lnTo>
                  <a:pt x="3768783" y="0"/>
                </a:lnTo>
                <a:lnTo>
                  <a:pt x="3768783" y="5143500"/>
                </a:lnTo>
                <a:lnTo>
                  <a:pt x="0" y="51435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rot="-5400000" flipH="1">
            <a:off x="5136803" y="-491770"/>
            <a:ext cx="4075892" cy="3467752"/>
          </a:xfrm>
          <a:custGeom>
            <a:avLst/>
            <a:gdLst/>
            <a:ahLst/>
            <a:cxnLst/>
            <a:rect l="l" t="t" r="r" b="b"/>
            <a:pathLst>
              <a:path w="4075892" h="3467752">
                <a:moveTo>
                  <a:pt x="4075892" y="0"/>
                </a:moveTo>
                <a:lnTo>
                  <a:pt x="0" y="0"/>
                </a:lnTo>
                <a:lnTo>
                  <a:pt x="0" y="3467752"/>
                </a:lnTo>
                <a:lnTo>
                  <a:pt x="4075892" y="3467752"/>
                </a:lnTo>
                <a:lnTo>
                  <a:pt x="4075892"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5" name="Group 15"/>
          <p:cNvGrpSpPr/>
          <p:nvPr/>
        </p:nvGrpSpPr>
        <p:grpSpPr>
          <a:xfrm>
            <a:off x="-230107" y="2053485"/>
            <a:ext cx="1543050" cy="781016"/>
            <a:chOff x="0" y="0"/>
            <a:chExt cx="406400" cy="205700"/>
          </a:xfrm>
        </p:grpSpPr>
        <p:sp>
          <p:nvSpPr>
            <p:cNvPr id="16" name="Freeform 16"/>
            <p:cNvSpPr/>
            <p:nvPr/>
          </p:nvSpPr>
          <p:spPr>
            <a:xfrm>
              <a:off x="0" y="0"/>
              <a:ext cx="406400" cy="205700"/>
            </a:xfrm>
            <a:custGeom>
              <a:avLst/>
              <a:gdLst/>
              <a:ahLst/>
              <a:cxnLst/>
              <a:rect l="l" t="t" r="r" b="b"/>
              <a:pathLst>
                <a:path w="406400" h="205700">
                  <a:moveTo>
                    <a:pt x="0" y="0"/>
                  </a:moveTo>
                  <a:lnTo>
                    <a:pt x="406400" y="0"/>
                  </a:lnTo>
                  <a:lnTo>
                    <a:pt x="406400" y="205700"/>
                  </a:lnTo>
                  <a:lnTo>
                    <a:pt x="0" y="205700"/>
                  </a:lnTo>
                  <a:close/>
                </a:path>
              </a:pathLst>
            </a:custGeom>
            <a:solidFill>
              <a:srgbClr val="243458"/>
            </a:solidFill>
          </p:spPr>
        </p:sp>
        <p:sp>
          <p:nvSpPr>
            <p:cNvPr id="17" name="TextBox 17"/>
            <p:cNvSpPr txBox="1"/>
            <p:nvPr/>
          </p:nvSpPr>
          <p:spPr>
            <a:xfrm>
              <a:off x="0" y="-57150"/>
              <a:ext cx="406400" cy="262850"/>
            </a:xfrm>
            <a:prstGeom prst="rect">
              <a:avLst/>
            </a:prstGeom>
          </p:spPr>
          <p:txBody>
            <a:bodyPr lIns="50800" tIns="50800" rIns="50800" bIns="50800" rtlCol="0" anchor="ctr"/>
            <a:lstStyle/>
            <a:p>
              <a:pPr algn="ctr">
                <a:lnSpc>
                  <a:spcPts val="3220"/>
                </a:lnSpc>
              </a:pPr>
              <a:endParaRPr/>
            </a:p>
          </p:txBody>
        </p:sp>
      </p:grpSp>
      <p:sp>
        <p:nvSpPr>
          <p:cNvPr id="18" name="Freeform 18"/>
          <p:cNvSpPr/>
          <p:nvPr/>
        </p:nvSpPr>
        <p:spPr>
          <a:xfrm rot="-5400000">
            <a:off x="16160241" y="6036241"/>
            <a:ext cx="4218937" cy="1065282"/>
          </a:xfrm>
          <a:custGeom>
            <a:avLst/>
            <a:gdLst/>
            <a:ahLst/>
            <a:cxnLst/>
            <a:rect l="l" t="t" r="r" b="b"/>
            <a:pathLst>
              <a:path w="4218937" h="1065282">
                <a:moveTo>
                  <a:pt x="0" y="0"/>
                </a:moveTo>
                <a:lnTo>
                  <a:pt x="4218937" y="0"/>
                </a:lnTo>
                <a:lnTo>
                  <a:pt x="4218937" y="1065281"/>
                </a:lnTo>
                <a:lnTo>
                  <a:pt x="0" y="10652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9" name="TextBox 19"/>
          <p:cNvSpPr txBox="1"/>
          <p:nvPr/>
        </p:nvSpPr>
        <p:spPr>
          <a:xfrm>
            <a:off x="10643675" y="4940008"/>
            <a:ext cx="5242267" cy="3323987"/>
          </a:xfrm>
          <a:prstGeom prst="rect">
            <a:avLst/>
          </a:prstGeom>
        </p:spPr>
        <p:txBody>
          <a:bodyPr lIns="0" tIns="0" rIns="0" bIns="0" rtlCol="0" anchor="t">
            <a:spAutoFit/>
          </a:bodyPr>
          <a:lstStyle/>
          <a:p>
            <a:r>
              <a:rPr lang="en-US" sz="2400" dirty="0">
                <a:solidFill>
                  <a:schemeClr val="bg1"/>
                </a:solidFill>
              </a:rPr>
              <a:t>In the Mall we can see how many people are coming in mall in a month and how many no.</a:t>
            </a:r>
          </a:p>
          <a:p>
            <a:r>
              <a:rPr lang="en-US" sz="2400" dirty="0">
                <a:solidFill>
                  <a:schemeClr val="bg1"/>
                </a:solidFill>
              </a:rPr>
              <a:t>It shows that which age group of Patients comes to the mall the most.</a:t>
            </a:r>
          </a:p>
          <a:p>
            <a:r>
              <a:rPr lang="en-US" sz="2400" dirty="0">
                <a:solidFill>
                  <a:schemeClr val="bg1"/>
                </a:solidFill>
              </a:rPr>
              <a:t>It shows that which types of things are attracting most.</a:t>
            </a:r>
          </a:p>
          <a:p>
            <a:r>
              <a:rPr lang="en-US" sz="2400" dirty="0">
                <a:solidFill>
                  <a:schemeClr val="bg1"/>
                </a:solidFill>
              </a:rPr>
              <a:t>It shows that which gender of person came most in the mall.</a:t>
            </a:r>
          </a:p>
        </p:txBody>
      </p:sp>
      <p:sp>
        <p:nvSpPr>
          <p:cNvPr id="20" name="TextBox 20"/>
          <p:cNvSpPr txBox="1"/>
          <p:nvPr/>
        </p:nvSpPr>
        <p:spPr>
          <a:xfrm>
            <a:off x="2541961" y="1833741"/>
            <a:ext cx="4133198" cy="1944370"/>
          </a:xfrm>
          <a:prstGeom prst="rect">
            <a:avLst/>
          </a:prstGeom>
        </p:spPr>
        <p:txBody>
          <a:bodyPr lIns="0" tIns="0" rIns="0" bIns="0" rtlCol="0" anchor="t">
            <a:spAutoFit/>
          </a:bodyPr>
          <a:lstStyle/>
          <a:p>
            <a:pPr algn="l">
              <a:lnSpc>
                <a:spcPts val="6800"/>
              </a:lnSpc>
            </a:pPr>
            <a:r>
              <a:rPr lang="en-US" sz="6800" b="1">
                <a:solidFill>
                  <a:srgbClr val="243458"/>
                </a:solidFill>
                <a:latin typeface="Agrandir Bold"/>
                <a:ea typeface="Agrandir Bold"/>
                <a:cs typeface="Agrandir Bold"/>
                <a:sym typeface="Agrandir Bold"/>
              </a:rPr>
              <a:t>The Problem</a:t>
            </a:r>
          </a:p>
        </p:txBody>
      </p:sp>
      <p:pic>
        <p:nvPicPr>
          <p:cNvPr id="23" name="Picture 22" descr="A table with a name">
            <a:extLst>
              <a:ext uri="{FF2B5EF4-FFF2-40B4-BE49-F238E27FC236}">
                <a16:creationId xmlns:a16="http://schemas.microsoft.com/office/drawing/2014/main" id="{90985CA8-2D15-6185-634A-F1F48F8D4FC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179897" y="3734830"/>
            <a:ext cx="6349263" cy="3727125"/>
          </a:xfrm>
          <a:prstGeom prst="rect">
            <a:avLst/>
          </a:prstGeom>
          <a:ln>
            <a:noFill/>
          </a:ln>
          <a:effectLst>
            <a:outerShdw blurRad="292100" dist="139700" dir="2700000" algn="tl" rotWithShape="0">
              <a:srgbClr val="333333">
                <a:alpha val="65000"/>
              </a:srgbClr>
            </a:outerShdw>
          </a:effectLst>
        </p:spPr>
      </p:pic>
      <p:sp>
        <p:nvSpPr>
          <p:cNvPr id="21" name="Freeform 21"/>
          <p:cNvSpPr/>
          <p:nvPr/>
        </p:nvSpPr>
        <p:spPr>
          <a:xfrm>
            <a:off x="10558768" y="8678350"/>
            <a:ext cx="1597189" cy="322342"/>
          </a:xfrm>
          <a:custGeom>
            <a:avLst/>
            <a:gdLst/>
            <a:ahLst/>
            <a:cxnLst/>
            <a:rect l="l" t="t" r="r" b="b"/>
            <a:pathLst>
              <a:path w="1597189" h="322342">
                <a:moveTo>
                  <a:pt x="0" y="0"/>
                </a:moveTo>
                <a:lnTo>
                  <a:pt x="1597189" y="0"/>
                </a:lnTo>
                <a:lnTo>
                  <a:pt x="1597189" y="322342"/>
                </a:lnTo>
                <a:lnTo>
                  <a:pt x="0" y="32234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1860" y="-55369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US"/>
          </a:p>
        </p:txBody>
      </p:sp>
      <p:sp>
        <p:nvSpPr>
          <p:cNvPr id="5" name="TextBox 5"/>
          <p:cNvSpPr txBox="1"/>
          <p:nvPr/>
        </p:nvSpPr>
        <p:spPr>
          <a:xfrm>
            <a:off x="68464" y="-839539"/>
            <a:ext cx="18187676" cy="11126538"/>
          </a:xfrm>
          <a:prstGeom prst="rect">
            <a:avLst/>
          </a:prstGeom>
        </p:spPr>
        <p:txBody>
          <a:bodyPr lIns="50800" tIns="50800" rIns="50800" bIns="50800" rtlCol="0" anchor="ctr"/>
          <a:lstStyle/>
          <a:p>
            <a:pPr algn="ctr">
              <a:lnSpc>
                <a:spcPts val="3220"/>
              </a:lnSpc>
            </a:pPr>
            <a:endParaRPr/>
          </a:p>
        </p:txBody>
      </p:sp>
      <p:sp>
        <p:nvSpPr>
          <p:cNvPr id="16" name="Freeform 16"/>
          <p:cNvSpPr/>
          <p:nvPr/>
        </p:nvSpPr>
        <p:spPr>
          <a:xfrm rot="762402">
            <a:off x="2349892" y="-381900"/>
            <a:ext cx="2317164" cy="1531799"/>
          </a:xfrm>
          <a:custGeom>
            <a:avLst/>
            <a:gdLst/>
            <a:ahLst/>
            <a:cxnLst/>
            <a:rect l="l" t="t" r="r" b="b"/>
            <a:pathLst>
              <a:path w="4449072" h="4114800">
                <a:moveTo>
                  <a:pt x="0" y="0"/>
                </a:moveTo>
                <a:lnTo>
                  <a:pt x="4449072" y="0"/>
                </a:lnTo>
                <a:lnTo>
                  <a:pt x="444907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TextBox 17"/>
          <p:cNvSpPr txBox="1"/>
          <p:nvPr/>
        </p:nvSpPr>
        <p:spPr>
          <a:xfrm>
            <a:off x="5181600" y="-152221"/>
            <a:ext cx="9296400" cy="961802"/>
          </a:xfrm>
          <a:prstGeom prst="rect">
            <a:avLst/>
          </a:prstGeom>
        </p:spPr>
        <p:txBody>
          <a:bodyPr wrap="square" lIns="0" tIns="0" rIns="0" bIns="0" rtlCol="0" anchor="t">
            <a:spAutoFit/>
          </a:bodyPr>
          <a:lstStyle/>
          <a:p>
            <a:pPr marL="0" lvl="0" indent="0" algn="l">
              <a:lnSpc>
                <a:spcPts val="7480"/>
              </a:lnSpc>
              <a:spcBef>
                <a:spcPct val="0"/>
              </a:spcBef>
            </a:pPr>
            <a:r>
              <a:rPr lang="en-US" sz="7200" b="1" dirty="0">
                <a:latin typeface="Agrandir Bold"/>
                <a:ea typeface="Agrandir Bold"/>
                <a:cs typeface="Agrandir Bold"/>
                <a:sym typeface="Agrandir Bold"/>
              </a:rPr>
              <a:t>Dataset</a:t>
            </a:r>
            <a:r>
              <a:rPr lang="en-US" sz="7200" b="1" u="none" strike="noStrike" dirty="0">
                <a:latin typeface="Agrandir Bold"/>
                <a:ea typeface="Agrandir Bold"/>
                <a:cs typeface="Agrandir Bold"/>
                <a:sym typeface="Agrandir Bold"/>
              </a:rPr>
              <a:t> Snapshot</a:t>
            </a:r>
          </a:p>
        </p:txBody>
      </p:sp>
      <p:pic>
        <p:nvPicPr>
          <p:cNvPr id="29" name="Picture 28" descr="A black and white image of a list&#10;&#10;AI-generated content may be incorrect.">
            <a:extLst>
              <a:ext uri="{FF2B5EF4-FFF2-40B4-BE49-F238E27FC236}">
                <a16:creationId xmlns:a16="http://schemas.microsoft.com/office/drawing/2014/main" id="{2A0C9284-AF65-19FC-A41F-72776DCA0C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670" y="952501"/>
            <a:ext cx="18116479" cy="93344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3789890" y="3992483"/>
            <a:ext cx="14918964" cy="5565864"/>
            <a:chOff x="0" y="0"/>
            <a:chExt cx="3929274" cy="1465907"/>
          </a:xfrm>
        </p:grpSpPr>
        <p:sp>
          <p:nvSpPr>
            <p:cNvPr id="4" name="Freeform 4"/>
            <p:cNvSpPr/>
            <p:nvPr/>
          </p:nvSpPr>
          <p:spPr>
            <a:xfrm>
              <a:off x="0" y="0"/>
              <a:ext cx="3929275" cy="1465907"/>
            </a:xfrm>
            <a:custGeom>
              <a:avLst/>
              <a:gdLst/>
              <a:ahLst/>
              <a:cxnLst/>
              <a:rect l="l" t="t" r="r" b="b"/>
              <a:pathLst>
                <a:path w="3929275" h="1465907">
                  <a:moveTo>
                    <a:pt x="26466" y="0"/>
                  </a:moveTo>
                  <a:lnTo>
                    <a:pt x="3902809" y="0"/>
                  </a:lnTo>
                  <a:cubicBezTo>
                    <a:pt x="3909828" y="0"/>
                    <a:pt x="3916560" y="2788"/>
                    <a:pt x="3921523" y="7752"/>
                  </a:cubicBezTo>
                  <a:cubicBezTo>
                    <a:pt x="3926486" y="12715"/>
                    <a:pt x="3929275" y="19446"/>
                    <a:pt x="3929275" y="26466"/>
                  </a:cubicBezTo>
                  <a:lnTo>
                    <a:pt x="3929275" y="1439441"/>
                  </a:lnTo>
                  <a:cubicBezTo>
                    <a:pt x="3929275" y="1446460"/>
                    <a:pt x="3926486" y="1453192"/>
                    <a:pt x="3921523" y="1458155"/>
                  </a:cubicBezTo>
                  <a:cubicBezTo>
                    <a:pt x="3916560" y="1463118"/>
                    <a:pt x="3909828" y="1465907"/>
                    <a:pt x="3902809" y="1465907"/>
                  </a:cubicBezTo>
                  <a:lnTo>
                    <a:pt x="26466" y="1465907"/>
                  </a:lnTo>
                  <a:cubicBezTo>
                    <a:pt x="19446" y="1465907"/>
                    <a:pt x="12715" y="1463118"/>
                    <a:pt x="7752" y="1458155"/>
                  </a:cubicBezTo>
                  <a:cubicBezTo>
                    <a:pt x="2788" y="1453192"/>
                    <a:pt x="0" y="1446460"/>
                    <a:pt x="0" y="1439441"/>
                  </a:cubicBezTo>
                  <a:lnTo>
                    <a:pt x="0" y="26466"/>
                  </a:lnTo>
                  <a:cubicBezTo>
                    <a:pt x="0" y="19446"/>
                    <a:pt x="2788" y="12715"/>
                    <a:pt x="7752" y="7752"/>
                  </a:cubicBezTo>
                  <a:cubicBezTo>
                    <a:pt x="12715" y="2788"/>
                    <a:pt x="19446" y="0"/>
                    <a:pt x="26466" y="0"/>
                  </a:cubicBezTo>
                  <a:close/>
                </a:path>
              </a:pathLst>
            </a:custGeom>
            <a:solidFill>
              <a:srgbClr val="243458"/>
            </a:solidFill>
          </p:spPr>
          <p:txBody>
            <a:bodyPr/>
            <a:lstStyle/>
            <a:p>
              <a:endParaRPr lang="en-US" dirty="0"/>
            </a:p>
          </p:txBody>
        </p:sp>
        <p:sp>
          <p:nvSpPr>
            <p:cNvPr id="5" name="TextBox 5"/>
            <p:cNvSpPr txBox="1"/>
            <p:nvPr/>
          </p:nvSpPr>
          <p:spPr>
            <a:xfrm>
              <a:off x="0" y="-57150"/>
              <a:ext cx="3929274" cy="1523057"/>
            </a:xfrm>
            <a:prstGeom prst="rect">
              <a:avLst/>
            </a:prstGeom>
          </p:spPr>
          <p:txBody>
            <a:bodyPr lIns="50800" tIns="50800" rIns="50800" bIns="50800" rtlCol="0" anchor="ctr"/>
            <a:lstStyle/>
            <a:p>
              <a:pPr algn="ctr">
                <a:lnSpc>
                  <a:spcPts val="3220"/>
                </a:lnSpc>
              </a:pPr>
              <a:endParaRPr/>
            </a:p>
          </p:txBody>
        </p:sp>
      </p:grpSp>
      <p:grpSp>
        <p:nvGrpSpPr>
          <p:cNvPr id="13" name="Group 13"/>
          <p:cNvGrpSpPr/>
          <p:nvPr/>
        </p:nvGrpSpPr>
        <p:grpSpPr>
          <a:xfrm>
            <a:off x="12092122" y="2846465"/>
            <a:ext cx="5583305" cy="950002"/>
            <a:chOff x="0" y="0"/>
            <a:chExt cx="1003394" cy="170728"/>
          </a:xfrm>
        </p:grpSpPr>
        <p:sp>
          <p:nvSpPr>
            <p:cNvPr id="14" name="Freeform 14"/>
            <p:cNvSpPr/>
            <p:nvPr/>
          </p:nvSpPr>
          <p:spPr>
            <a:xfrm>
              <a:off x="0" y="0"/>
              <a:ext cx="1003394" cy="170728"/>
            </a:xfrm>
            <a:custGeom>
              <a:avLst/>
              <a:gdLst/>
              <a:ahLst/>
              <a:cxnLst/>
              <a:rect l="l" t="t" r="r" b="b"/>
              <a:pathLst>
                <a:path w="1003394" h="170728">
                  <a:moveTo>
                    <a:pt x="501697" y="0"/>
                  </a:moveTo>
                  <a:cubicBezTo>
                    <a:pt x="224617" y="0"/>
                    <a:pt x="0" y="38219"/>
                    <a:pt x="0" y="85364"/>
                  </a:cubicBezTo>
                  <a:cubicBezTo>
                    <a:pt x="0" y="132509"/>
                    <a:pt x="224617" y="170728"/>
                    <a:pt x="501697" y="170728"/>
                  </a:cubicBezTo>
                  <a:cubicBezTo>
                    <a:pt x="778777" y="170728"/>
                    <a:pt x="1003394" y="132509"/>
                    <a:pt x="1003394" y="85364"/>
                  </a:cubicBezTo>
                  <a:cubicBezTo>
                    <a:pt x="1003394" y="38219"/>
                    <a:pt x="778777" y="0"/>
                    <a:pt x="501697" y="0"/>
                  </a:cubicBezTo>
                  <a:close/>
                </a:path>
              </a:pathLst>
            </a:custGeom>
            <a:solidFill>
              <a:srgbClr val="DEDEDE"/>
            </a:solidFill>
          </p:spPr>
        </p:sp>
        <p:sp>
          <p:nvSpPr>
            <p:cNvPr id="15" name="TextBox 15"/>
            <p:cNvSpPr txBox="1"/>
            <p:nvPr/>
          </p:nvSpPr>
          <p:spPr>
            <a:xfrm>
              <a:off x="94068" y="-41144"/>
              <a:ext cx="815258" cy="195866"/>
            </a:xfrm>
            <a:prstGeom prst="rect">
              <a:avLst/>
            </a:prstGeom>
          </p:spPr>
          <p:txBody>
            <a:bodyPr lIns="50800" tIns="50800" rIns="50800" bIns="50800" rtlCol="0" anchor="ctr"/>
            <a:lstStyle/>
            <a:p>
              <a:pPr algn="ctr">
                <a:lnSpc>
                  <a:spcPts val="3220"/>
                </a:lnSpc>
              </a:pPr>
              <a:endParaRPr/>
            </a:p>
          </p:txBody>
        </p:sp>
      </p:grpSp>
      <p:sp>
        <p:nvSpPr>
          <p:cNvPr id="16" name="Freeform 16"/>
          <p:cNvSpPr/>
          <p:nvPr/>
        </p:nvSpPr>
        <p:spPr>
          <a:xfrm>
            <a:off x="12448923" y="738075"/>
            <a:ext cx="4810377" cy="2816257"/>
          </a:xfrm>
          <a:custGeom>
            <a:avLst/>
            <a:gdLst/>
            <a:ahLst/>
            <a:cxnLst/>
            <a:rect l="l" t="t" r="r" b="b"/>
            <a:pathLst>
              <a:path w="4810377" h="2816257">
                <a:moveTo>
                  <a:pt x="0" y="0"/>
                </a:moveTo>
                <a:lnTo>
                  <a:pt x="4810377" y="0"/>
                </a:lnTo>
                <a:lnTo>
                  <a:pt x="4810377" y="2816258"/>
                </a:lnTo>
                <a:lnTo>
                  <a:pt x="0" y="28162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Freeform 17"/>
          <p:cNvSpPr/>
          <p:nvPr/>
        </p:nvSpPr>
        <p:spPr>
          <a:xfrm flipH="1" flipV="1">
            <a:off x="2704026" y="-1546622"/>
            <a:ext cx="3830266" cy="4114800"/>
          </a:xfrm>
          <a:custGeom>
            <a:avLst/>
            <a:gdLst/>
            <a:ahLst/>
            <a:cxnLst/>
            <a:rect l="l" t="t" r="r" b="b"/>
            <a:pathLst>
              <a:path w="3830266" h="4114800">
                <a:moveTo>
                  <a:pt x="3830266" y="4114800"/>
                </a:moveTo>
                <a:lnTo>
                  <a:pt x="0" y="4114800"/>
                </a:lnTo>
                <a:lnTo>
                  <a:pt x="0" y="0"/>
                </a:lnTo>
                <a:lnTo>
                  <a:pt x="3830266" y="0"/>
                </a:lnTo>
                <a:lnTo>
                  <a:pt x="3830266"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18"/>
          <p:cNvSpPr txBox="1"/>
          <p:nvPr/>
        </p:nvSpPr>
        <p:spPr>
          <a:xfrm>
            <a:off x="6714897" y="1467723"/>
            <a:ext cx="4956367" cy="1930272"/>
          </a:xfrm>
          <a:prstGeom prst="rect">
            <a:avLst/>
          </a:prstGeom>
        </p:spPr>
        <p:txBody>
          <a:bodyPr wrap="square" lIns="0" tIns="0" rIns="0" bIns="0" rtlCol="0" anchor="t">
            <a:spAutoFit/>
          </a:bodyPr>
          <a:lstStyle/>
          <a:p>
            <a:pPr>
              <a:lnSpc>
                <a:spcPts val="7480"/>
              </a:lnSpc>
            </a:pPr>
            <a:r>
              <a:rPr lang="en-US" sz="7200" dirty="0">
                <a:solidFill>
                  <a:sysClr val="windowText" lastClr="000000"/>
                </a:solidFill>
                <a:latin typeface="Bahnschrift" panose="020B0502040204020203" pitchFamily="34" charset="0"/>
              </a:rPr>
              <a:t>Revenue by Months</a:t>
            </a:r>
            <a:endParaRPr lang="en-US" sz="6800" b="1" dirty="0">
              <a:solidFill>
                <a:sysClr val="windowText" lastClr="000000"/>
              </a:solidFill>
              <a:latin typeface="Bahnschrift" panose="020B0502040204020203" pitchFamily="34" charset="0"/>
              <a:ea typeface="Agrandir Bold"/>
              <a:cs typeface="Agrandir Bold"/>
              <a:sym typeface="Agrandir Bold"/>
            </a:endParaRPr>
          </a:p>
        </p:txBody>
      </p:sp>
      <p:sp>
        <p:nvSpPr>
          <p:cNvPr id="21" name="TextBox 21"/>
          <p:cNvSpPr txBox="1"/>
          <p:nvPr/>
        </p:nvSpPr>
        <p:spPr>
          <a:xfrm>
            <a:off x="6972432" y="4607321"/>
            <a:ext cx="5438391" cy="4336187"/>
          </a:xfrm>
          <a:prstGeom prst="rect">
            <a:avLst/>
          </a:prstGeom>
        </p:spPr>
        <p:txBody>
          <a:bodyPr wrap="square" lIns="0" tIns="0" rIns="0" bIns="0" rtlCol="0" anchor="t">
            <a:spAutoFit/>
          </a:bodyPr>
          <a:lstStyle/>
          <a:p>
            <a:pPr>
              <a:lnSpc>
                <a:spcPts val="3359"/>
              </a:lnSpc>
            </a:pPr>
            <a:r>
              <a:rPr lang="en-US" sz="2400" dirty="0">
                <a:solidFill>
                  <a:schemeClr val="bg1"/>
                </a:solidFill>
              </a:rPr>
              <a:t>The stacked bar chart shows monthly revenue trends for the mall, highlighting consistent growth across departments. Each month displays combined contributions from all categories, allowing clear comparison of peak and low-revenue periods. The visualization effectively presents overall performance, seasonal changes, and category-wise revenue distribution throughout the year.</a:t>
            </a:r>
            <a:endParaRPr lang="en-US" sz="2399" dirty="0">
              <a:solidFill>
                <a:schemeClr val="bg1"/>
              </a:solidFill>
              <a:latin typeface="Poppins"/>
              <a:ea typeface="Poppins"/>
              <a:cs typeface="Poppins"/>
              <a:sym typeface="Poppins"/>
            </a:endParaRPr>
          </a:p>
        </p:txBody>
      </p:sp>
      <p:grpSp>
        <p:nvGrpSpPr>
          <p:cNvPr id="22" name="Group 22"/>
          <p:cNvGrpSpPr/>
          <p:nvPr/>
        </p:nvGrpSpPr>
        <p:grpSpPr>
          <a:xfrm>
            <a:off x="-514350" y="2065450"/>
            <a:ext cx="1543050" cy="781016"/>
            <a:chOff x="0" y="0"/>
            <a:chExt cx="406400" cy="205700"/>
          </a:xfrm>
        </p:grpSpPr>
        <p:sp>
          <p:nvSpPr>
            <p:cNvPr id="23" name="Freeform 23"/>
            <p:cNvSpPr/>
            <p:nvPr/>
          </p:nvSpPr>
          <p:spPr>
            <a:xfrm>
              <a:off x="0" y="0"/>
              <a:ext cx="406400" cy="205700"/>
            </a:xfrm>
            <a:custGeom>
              <a:avLst/>
              <a:gdLst/>
              <a:ahLst/>
              <a:cxnLst/>
              <a:rect l="l" t="t" r="r" b="b"/>
              <a:pathLst>
                <a:path w="406400" h="205700">
                  <a:moveTo>
                    <a:pt x="0" y="0"/>
                  </a:moveTo>
                  <a:lnTo>
                    <a:pt x="406400" y="0"/>
                  </a:lnTo>
                  <a:lnTo>
                    <a:pt x="406400" y="205700"/>
                  </a:lnTo>
                  <a:lnTo>
                    <a:pt x="0" y="205700"/>
                  </a:lnTo>
                  <a:close/>
                </a:path>
              </a:pathLst>
            </a:custGeom>
            <a:solidFill>
              <a:srgbClr val="243458"/>
            </a:solidFill>
          </p:spPr>
        </p:sp>
        <p:sp>
          <p:nvSpPr>
            <p:cNvPr id="24" name="TextBox 24"/>
            <p:cNvSpPr txBox="1"/>
            <p:nvPr/>
          </p:nvSpPr>
          <p:spPr>
            <a:xfrm>
              <a:off x="0" y="-57150"/>
              <a:ext cx="406400" cy="262850"/>
            </a:xfrm>
            <a:prstGeom prst="rect">
              <a:avLst/>
            </a:prstGeom>
          </p:spPr>
          <p:txBody>
            <a:bodyPr lIns="50800" tIns="50800" rIns="50800" bIns="50800" rtlCol="0" anchor="ctr"/>
            <a:lstStyle/>
            <a:p>
              <a:pPr algn="ctr">
                <a:lnSpc>
                  <a:spcPts val="3220"/>
                </a:lnSpc>
              </a:pPr>
              <a:endParaRPr/>
            </a:p>
          </p:txBody>
        </p:sp>
      </p:grpSp>
      <p:sp>
        <p:nvSpPr>
          <p:cNvPr id="25" name="Freeform 25"/>
          <p:cNvSpPr/>
          <p:nvPr/>
        </p:nvSpPr>
        <p:spPr>
          <a:xfrm rot="-10800000">
            <a:off x="8127873" y="-532641"/>
            <a:ext cx="4218937" cy="1065282"/>
          </a:xfrm>
          <a:custGeom>
            <a:avLst/>
            <a:gdLst/>
            <a:ahLst/>
            <a:cxnLst/>
            <a:rect l="l" t="t" r="r" b="b"/>
            <a:pathLst>
              <a:path w="4218937" h="1065282">
                <a:moveTo>
                  <a:pt x="0" y="0"/>
                </a:moveTo>
                <a:lnTo>
                  <a:pt x="4218938" y="0"/>
                </a:lnTo>
                <a:lnTo>
                  <a:pt x="4218938" y="1065282"/>
                </a:lnTo>
                <a:lnTo>
                  <a:pt x="0" y="10652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27" name="Picture 26" descr="A graph of a graph of numbers and a number&#10;&#10;AI-generated content may be incorrect.">
            <a:extLst>
              <a:ext uri="{FF2B5EF4-FFF2-40B4-BE49-F238E27FC236}">
                <a16:creationId xmlns:a16="http://schemas.microsoft.com/office/drawing/2014/main" id="{D1F91793-645A-A846-D695-B66723D1277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8583" y="2905417"/>
            <a:ext cx="5781275" cy="5565865"/>
          </a:xfrm>
          <a:prstGeom prst="rect">
            <a:avLst/>
          </a:prstGeom>
        </p:spPr>
      </p:pic>
      <p:pic>
        <p:nvPicPr>
          <p:cNvPr id="29" name="Picture 28" descr="A screenshot of a computer&#10;&#10;AI-generated content may be incorrect.">
            <a:extLst>
              <a:ext uri="{FF2B5EF4-FFF2-40B4-BE49-F238E27FC236}">
                <a16:creationId xmlns:a16="http://schemas.microsoft.com/office/drawing/2014/main" id="{F4BDF1E7-E7D0-CB80-7F84-AB7583F73A7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403083" y="4666542"/>
            <a:ext cx="5884917" cy="427696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a:extLst>
              <a:ext uri="{FF2B5EF4-FFF2-40B4-BE49-F238E27FC236}">
                <a16:creationId xmlns:a16="http://schemas.microsoft.com/office/drawing/2014/main" id="{201F7B10-2BAF-26DF-9BD1-979F223C72E2}"/>
              </a:ext>
            </a:extLst>
          </p:cNvPr>
          <p:cNvSpPr/>
          <p:nvPr/>
        </p:nvSpPr>
        <p:spPr>
          <a:xfrm>
            <a:off x="262867" y="1028700"/>
            <a:ext cx="10904266" cy="8229600"/>
          </a:xfrm>
          <a:custGeom>
            <a:avLst/>
            <a:gdLst/>
            <a:ahLst/>
            <a:cxnLst/>
            <a:rect l="l" t="t" r="r" b="b"/>
            <a:pathLst>
              <a:path w="3662926" h="2167467">
                <a:moveTo>
                  <a:pt x="28390" y="0"/>
                </a:moveTo>
                <a:lnTo>
                  <a:pt x="3634536" y="0"/>
                </a:lnTo>
                <a:cubicBezTo>
                  <a:pt x="3650216" y="0"/>
                  <a:pt x="3662926" y="12711"/>
                  <a:pt x="3662926" y="28390"/>
                </a:cubicBezTo>
                <a:lnTo>
                  <a:pt x="3662926" y="2139077"/>
                </a:lnTo>
                <a:cubicBezTo>
                  <a:pt x="3662926" y="2154756"/>
                  <a:pt x="3650216" y="2167467"/>
                  <a:pt x="3634536" y="2167467"/>
                </a:cubicBezTo>
                <a:lnTo>
                  <a:pt x="28390" y="2167467"/>
                </a:lnTo>
                <a:cubicBezTo>
                  <a:pt x="20860" y="2167467"/>
                  <a:pt x="13639" y="2164476"/>
                  <a:pt x="8315" y="2159152"/>
                </a:cubicBezTo>
                <a:cubicBezTo>
                  <a:pt x="2991" y="2153827"/>
                  <a:pt x="0" y="2146606"/>
                  <a:pt x="0" y="2139077"/>
                </a:cubicBezTo>
                <a:lnTo>
                  <a:pt x="0" y="28390"/>
                </a:lnTo>
                <a:cubicBezTo>
                  <a:pt x="0" y="12711"/>
                  <a:pt x="12711" y="0"/>
                  <a:pt x="28390" y="0"/>
                </a:cubicBezTo>
                <a:close/>
              </a:path>
            </a:pathLst>
          </a:custGeom>
          <a:solidFill>
            <a:srgbClr val="243458"/>
          </a:solidFill>
        </p:spPr>
      </p:sp>
      <p:sp>
        <p:nvSpPr>
          <p:cNvPr id="7" name="Freeform 16">
            <a:extLst>
              <a:ext uri="{FF2B5EF4-FFF2-40B4-BE49-F238E27FC236}">
                <a16:creationId xmlns:a16="http://schemas.microsoft.com/office/drawing/2014/main" id="{FF112827-5B68-BE7D-9FBA-71A5C3CC2903}"/>
              </a:ext>
            </a:extLst>
          </p:cNvPr>
          <p:cNvSpPr/>
          <p:nvPr/>
        </p:nvSpPr>
        <p:spPr>
          <a:xfrm rot="-5279693">
            <a:off x="7680219" y="-1042296"/>
            <a:ext cx="2684627" cy="4987807"/>
          </a:xfrm>
          <a:custGeom>
            <a:avLst/>
            <a:gdLst/>
            <a:ahLst/>
            <a:cxnLst/>
            <a:rect l="l" t="t" r="r" b="b"/>
            <a:pathLst>
              <a:path w="4449072" h="4114800">
                <a:moveTo>
                  <a:pt x="0" y="0"/>
                </a:moveTo>
                <a:lnTo>
                  <a:pt x="4449072" y="0"/>
                </a:lnTo>
                <a:lnTo>
                  <a:pt x="444907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TextBox 7">
            <a:extLst>
              <a:ext uri="{FF2B5EF4-FFF2-40B4-BE49-F238E27FC236}">
                <a16:creationId xmlns:a16="http://schemas.microsoft.com/office/drawing/2014/main" id="{A02448E2-817B-200A-8D69-E2C8291FA6E5}"/>
              </a:ext>
            </a:extLst>
          </p:cNvPr>
          <p:cNvSpPr txBox="1"/>
          <p:nvPr/>
        </p:nvSpPr>
        <p:spPr>
          <a:xfrm>
            <a:off x="649990" y="1787664"/>
            <a:ext cx="5923964" cy="707886"/>
          </a:xfrm>
          <a:prstGeom prst="rect">
            <a:avLst/>
          </a:prstGeom>
          <a:noFill/>
        </p:spPr>
        <p:txBody>
          <a:bodyPr wrap="square" rtlCol="0">
            <a:spAutoFit/>
          </a:bodyPr>
          <a:lstStyle/>
          <a:p>
            <a:pPr algn="ctr"/>
            <a:r>
              <a:rPr lang="en-US" sz="4000" b="1" dirty="0">
                <a:solidFill>
                  <a:schemeClr val="bg1"/>
                </a:solidFill>
                <a:latin typeface="Arial Black" panose="020B0A04020102020204" pitchFamily="34" charset="0"/>
              </a:rPr>
              <a:t>Revenue by Regions</a:t>
            </a:r>
            <a:endParaRPr lang="en-US" sz="4400" b="1" dirty="0">
              <a:solidFill>
                <a:schemeClr val="bg1"/>
              </a:solidFill>
              <a:latin typeface="Arial Black" panose="020B0A04020102020204" pitchFamily="34" charset="0"/>
            </a:endParaRPr>
          </a:p>
        </p:txBody>
      </p:sp>
      <p:sp>
        <p:nvSpPr>
          <p:cNvPr id="9" name="TextBox 8">
            <a:extLst>
              <a:ext uri="{FF2B5EF4-FFF2-40B4-BE49-F238E27FC236}">
                <a16:creationId xmlns:a16="http://schemas.microsoft.com/office/drawing/2014/main" id="{1B571869-17A4-C7DA-1B30-3C55472F8BE8}"/>
              </a:ext>
            </a:extLst>
          </p:cNvPr>
          <p:cNvSpPr txBox="1"/>
          <p:nvPr/>
        </p:nvSpPr>
        <p:spPr>
          <a:xfrm>
            <a:off x="4800600" y="2495550"/>
            <a:ext cx="184731" cy="369332"/>
          </a:xfrm>
          <a:prstGeom prst="rect">
            <a:avLst/>
          </a:prstGeom>
          <a:noFill/>
        </p:spPr>
        <p:txBody>
          <a:bodyPr wrap="none" rtlCol="0">
            <a:spAutoFit/>
          </a:bodyPr>
          <a:lstStyle/>
          <a:p>
            <a:endParaRPr lang="en-US" dirty="0"/>
          </a:p>
        </p:txBody>
      </p:sp>
      <p:sp>
        <p:nvSpPr>
          <p:cNvPr id="12" name="Rectangle 2">
            <a:extLst>
              <a:ext uri="{FF2B5EF4-FFF2-40B4-BE49-F238E27FC236}">
                <a16:creationId xmlns:a16="http://schemas.microsoft.com/office/drawing/2014/main" id="{C57239BB-3432-55F7-E8F2-19D1F2E08EFB}"/>
              </a:ext>
            </a:extLst>
          </p:cNvPr>
          <p:cNvSpPr>
            <a:spLocks noChangeArrowheads="1"/>
          </p:cNvSpPr>
          <p:nvPr/>
        </p:nvSpPr>
        <p:spPr bwMode="auto">
          <a:xfrm>
            <a:off x="726190" y="3203436"/>
            <a:ext cx="73152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bg1"/>
                </a:solidFill>
                <a:effectLst/>
                <a:latin typeface="Arial" panose="020B0604020202020204" pitchFamily="34" charset="0"/>
              </a:rPr>
              <a:t>The column bar chart clearly highlights the mall’s revenue distribution across different regions. It shows which areas contribute the highest sales and which perform moderately. This comparison helps identify strong markets, understand customer trends, and focus on regions with growth potential to improve overall mall performance.</a:t>
            </a:r>
          </a:p>
        </p:txBody>
      </p:sp>
      <p:pic>
        <p:nvPicPr>
          <p:cNvPr id="14" name="Picture 13" descr="A screenshot of a computer&#10;&#10;AI-generated content may be incorrect.">
            <a:extLst>
              <a:ext uri="{FF2B5EF4-FFF2-40B4-BE49-F238E27FC236}">
                <a16:creationId xmlns:a16="http://schemas.microsoft.com/office/drawing/2014/main" id="{D986C070-5E39-EEAB-498A-0AAA55406A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54255" y="1451608"/>
            <a:ext cx="6470877" cy="3234692"/>
          </a:xfrm>
          <a:prstGeom prst="rect">
            <a:avLst/>
          </a:prstGeom>
        </p:spPr>
      </p:pic>
      <p:pic>
        <p:nvPicPr>
          <p:cNvPr id="16" name="Picture 15" descr="A graph of colorful bars&#10;&#10;AI-generated content may be incorrect.">
            <a:extLst>
              <a:ext uri="{FF2B5EF4-FFF2-40B4-BE49-F238E27FC236}">
                <a16:creationId xmlns:a16="http://schemas.microsoft.com/office/drawing/2014/main" id="{BC45BEDA-65BC-330A-06B0-6F50F72679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43369" y="4973150"/>
            <a:ext cx="6470878" cy="3862241"/>
          </a:xfrm>
          <a:prstGeom prst="rect">
            <a:avLst/>
          </a:prstGeom>
        </p:spPr>
      </p:pic>
      <p:grpSp>
        <p:nvGrpSpPr>
          <p:cNvPr id="17" name="Group 17">
            <a:extLst>
              <a:ext uri="{FF2B5EF4-FFF2-40B4-BE49-F238E27FC236}">
                <a16:creationId xmlns:a16="http://schemas.microsoft.com/office/drawing/2014/main" id="{2EBCF90A-9CBA-FF2C-B3F3-91BC2A8AE14D}"/>
              </a:ext>
            </a:extLst>
          </p:cNvPr>
          <p:cNvGrpSpPr/>
          <p:nvPr/>
        </p:nvGrpSpPr>
        <p:grpSpPr>
          <a:xfrm rot="5400000">
            <a:off x="2111048" y="99482"/>
            <a:ext cx="918192" cy="781016"/>
            <a:chOff x="0" y="0"/>
            <a:chExt cx="406400" cy="205700"/>
          </a:xfrm>
        </p:grpSpPr>
        <p:sp>
          <p:nvSpPr>
            <p:cNvPr id="18" name="Freeform 18">
              <a:extLst>
                <a:ext uri="{FF2B5EF4-FFF2-40B4-BE49-F238E27FC236}">
                  <a16:creationId xmlns:a16="http://schemas.microsoft.com/office/drawing/2014/main" id="{62865B5C-C7D3-8723-D1A2-DE684905E5AB}"/>
                </a:ext>
              </a:extLst>
            </p:cNvPr>
            <p:cNvSpPr/>
            <p:nvPr/>
          </p:nvSpPr>
          <p:spPr>
            <a:xfrm>
              <a:off x="0" y="0"/>
              <a:ext cx="406400" cy="205700"/>
            </a:xfrm>
            <a:custGeom>
              <a:avLst/>
              <a:gdLst/>
              <a:ahLst/>
              <a:cxnLst/>
              <a:rect l="l" t="t" r="r" b="b"/>
              <a:pathLst>
                <a:path w="406400" h="205700">
                  <a:moveTo>
                    <a:pt x="0" y="0"/>
                  </a:moveTo>
                  <a:lnTo>
                    <a:pt x="406400" y="0"/>
                  </a:lnTo>
                  <a:lnTo>
                    <a:pt x="406400" y="205700"/>
                  </a:lnTo>
                  <a:lnTo>
                    <a:pt x="0" y="205700"/>
                  </a:lnTo>
                  <a:close/>
                </a:path>
              </a:pathLst>
            </a:custGeom>
            <a:solidFill>
              <a:srgbClr val="243458"/>
            </a:solidFill>
          </p:spPr>
        </p:sp>
        <p:sp>
          <p:nvSpPr>
            <p:cNvPr id="19" name="TextBox 19">
              <a:extLst>
                <a:ext uri="{FF2B5EF4-FFF2-40B4-BE49-F238E27FC236}">
                  <a16:creationId xmlns:a16="http://schemas.microsoft.com/office/drawing/2014/main" id="{E4EA3DC1-DD94-E6B2-7890-10328247DF02}"/>
                </a:ext>
              </a:extLst>
            </p:cNvPr>
            <p:cNvSpPr txBox="1"/>
            <p:nvPr/>
          </p:nvSpPr>
          <p:spPr>
            <a:xfrm>
              <a:off x="0" y="-57150"/>
              <a:ext cx="406400" cy="262850"/>
            </a:xfrm>
            <a:prstGeom prst="rect">
              <a:avLst/>
            </a:prstGeom>
          </p:spPr>
          <p:txBody>
            <a:bodyPr lIns="50800" tIns="50800" rIns="50800" bIns="50800" rtlCol="0" anchor="ctr"/>
            <a:lstStyle/>
            <a:p>
              <a:pPr algn="ctr">
                <a:lnSpc>
                  <a:spcPts val="3220"/>
                </a:lnSpc>
              </a:pPr>
              <a:endParaRPr/>
            </a:p>
          </p:txBody>
        </p:sp>
      </p:grpSp>
      <p:grpSp>
        <p:nvGrpSpPr>
          <p:cNvPr id="20" name="Group 17">
            <a:extLst>
              <a:ext uri="{FF2B5EF4-FFF2-40B4-BE49-F238E27FC236}">
                <a16:creationId xmlns:a16="http://schemas.microsoft.com/office/drawing/2014/main" id="{27CC715D-15D3-A1CA-C462-6C315AE75048}"/>
              </a:ext>
            </a:extLst>
          </p:cNvPr>
          <p:cNvGrpSpPr/>
          <p:nvPr/>
        </p:nvGrpSpPr>
        <p:grpSpPr>
          <a:xfrm rot="5400000">
            <a:off x="2111048" y="9442839"/>
            <a:ext cx="918192" cy="781016"/>
            <a:chOff x="0" y="0"/>
            <a:chExt cx="406400" cy="205700"/>
          </a:xfrm>
        </p:grpSpPr>
        <p:sp>
          <p:nvSpPr>
            <p:cNvPr id="21" name="Freeform 18">
              <a:extLst>
                <a:ext uri="{FF2B5EF4-FFF2-40B4-BE49-F238E27FC236}">
                  <a16:creationId xmlns:a16="http://schemas.microsoft.com/office/drawing/2014/main" id="{56329DFE-84BE-D94A-253A-CCCB314ABFC8}"/>
                </a:ext>
              </a:extLst>
            </p:cNvPr>
            <p:cNvSpPr/>
            <p:nvPr/>
          </p:nvSpPr>
          <p:spPr>
            <a:xfrm>
              <a:off x="0" y="0"/>
              <a:ext cx="406400" cy="205700"/>
            </a:xfrm>
            <a:custGeom>
              <a:avLst/>
              <a:gdLst/>
              <a:ahLst/>
              <a:cxnLst/>
              <a:rect l="l" t="t" r="r" b="b"/>
              <a:pathLst>
                <a:path w="406400" h="205700">
                  <a:moveTo>
                    <a:pt x="0" y="0"/>
                  </a:moveTo>
                  <a:lnTo>
                    <a:pt x="406400" y="0"/>
                  </a:lnTo>
                  <a:lnTo>
                    <a:pt x="406400" y="205700"/>
                  </a:lnTo>
                  <a:lnTo>
                    <a:pt x="0" y="205700"/>
                  </a:lnTo>
                  <a:close/>
                </a:path>
              </a:pathLst>
            </a:custGeom>
            <a:solidFill>
              <a:srgbClr val="243458"/>
            </a:solidFill>
          </p:spPr>
        </p:sp>
        <p:sp>
          <p:nvSpPr>
            <p:cNvPr id="22" name="TextBox 19">
              <a:extLst>
                <a:ext uri="{FF2B5EF4-FFF2-40B4-BE49-F238E27FC236}">
                  <a16:creationId xmlns:a16="http://schemas.microsoft.com/office/drawing/2014/main" id="{B7D0EF36-626C-DC18-A6EF-802EA0222282}"/>
                </a:ext>
              </a:extLst>
            </p:cNvPr>
            <p:cNvSpPr txBox="1"/>
            <p:nvPr/>
          </p:nvSpPr>
          <p:spPr>
            <a:xfrm>
              <a:off x="0" y="-57150"/>
              <a:ext cx="406400" cy="262850"/>
            </a:xfrm>
            <a:prstGeom prst="rect">
              <a:avLst/>
            </a:prstGeom>
          </p:spPr>
          <p:txBody>
            <a:bodyPr lIns="50800" tIns="50800" rIns="50800" bIns="50800" rtlCol="0" anchor="ctr"/>
            <a:lstStyle/>
            <a:p>
              <a:pPr algn="ctr">
                <a:lnSpc>
                  <a:spcPts val="3220"/>
                </a:lnSpc>
              </a:pPr>
              <a:endParaRPr/>
            </a:p>
          </p:txBody>
        </p:sp>
      </p:grpSp>
    </p:spTree>
    <p:extLst>
      <p:ext uri="{BB962C8B-B14F-4D97-AF65-F5344CB8AC3E}">
        <p14:creationId xmlns:p14="http://schemas.microsoft.com/office/powerpoint/2010/main" val="1890440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5237873" y="1194202"/>
            <a:ext cx="13119167" cy="8149710"/>
            <a:chOff x="0" y="0"/>
            <a:chExt cx="3455254" cy="2146426"/>
          </a:xfrm>
        </p:grpSpPr>
        <p:sp>
          <p:nvSpPr>
            <p:cNvPr id="4" name="Freeform 4"/>
            <p:cNvSpPr/>
            <p:nvPr/>
          </p:nvSpPr>
          <p:spPr>
            <a:xfrm>
              <a:off x="0" y="0"/>
              <a:ext cx="3455254" cy="2146426"/>
            </a:xfrm>
            <a:custGeom>
              <a:avLst/>
              <a:gdLst/>
              <a:ahLst/>
              <a:cxnLst/>
              <a:rect l="l" t="t" r="r" b="b"/>
              <a:pathLst>
                <a:path w="3455254" h="2146426">
                  <a:moveTo>
                    <a:pt x="30096" y="0"/>
                  </a:moveTo>
                  <a:lnTo>
                    <a:pt x="3425158" y="0"/>
                  </a:lnTo>
                  <a:cubicBezTo>
                    <a:pt x="3441779" y="0"/>
                    <a:pt x="3455254" y="13475"/>
                    <a:pt x="3455254" y="30096"/>
                  </a:cubicBezTo>
                  <a:lnTo>
                    <a:pt x="3455254" y="2116330"/>
                  </a:lnTo>
                  <a:cubicBezTo>
                    <a:pt x="3455254" y="2132951"/>
                    <a:pt x="3441779" y="2146426"/>
                    <a:pt x="3425158" y="2146426"/>
                  </a:cubicBezTo>
                  <a:lnTo>
                    <a:pt x="30096" y="2146426"/>
                  </a:lnTo>
                  <a:cubicBezTo>
                    <a:pt x="13475" y="2146426"/>
                    <a:pt x="0" y="2132951"/>
                    <a:pt x="0" y="2116330"/>
                  </a:cubicBezTo>
                  <a:lnTo>
                    <a:pt x="0" y="30096"/>
                  </a:lnTo>
                  <a:cubicBezTo>
                    <a:pt x="0" y="13475"/>
                    <a:pt x="13475" y="0"/>
                    <a:pt x="30096" y="0"/>
                  </a:cubicBezTo>
                  <a:close/>
                </a:path>
              </a:pathLst>
            </a:custGeom>
            <a:solidFill>
              <a:srgbClr val="243458"/>
            </a:solidFill>
          </p:spPr>
          <p:txBody>
            <a:bodyPr/>
            <a:lstStyle/>
            <a:p>
              <a:endParaRPr lang="en-US" dirty="0"/>
            </a:p>
          </p:txBody>
        </p:sp>
        <p:sp>
          <p:nvSpPr>
            <p:cNvPr id="5" name="TextBox 5"/>
            <p:cNvSpPr txBox="1"/>
            <p:nvPr/>
          </p:nvSpPr>
          <p:spPr>
            <a:xfrm>
              <a:off x="0" y="-57150"/>
              <a:ext cx="3455254" cy="2203576"/>
            </a:xfrm>
            <a:prstGeom prst="rect">
              <a:avLst/>
            </a:prstGeom>
          </p:spPr>
          <p:txBody>
            <a:bodyPr lIns="50800" tIns="50800" rIns="50800" bIns="50800" rtlCol="0" anchor="ctr"/>
            <a:lstStyle/>
            <a:p>
              <a:pPr algn="ctr">
                <a:lnSpc>
                  <a:spcPts val="3220"/>
                </a:lnSpc>
              </a:pPr>
              <a:endParaRPr/>
            </a:p>
          </p:txBody>
        </p:sp>
      </p:grpSp>
      <p:sp>
        <p:nvSpPr>
          <p:cNvPr id="8" name="Freeform 8"/>
          <p:cNvSpPr/>
          <p:nvPr/>
        </p:nvSpPr>
        <p:spPr>
          <a:xfrm>
            <a:off x="7609903" y="3454248"/>
            <a:ext cx="649246" cy="656407"/>
          </a:xfrm>
          <a:custGeom>
            <a:avLst/>
            <a:gdLst/>
            <a:ahLst/>
            <a:cxnLst/>
            <a:rect l="l" t="t" r="r" b="b"/>
            <a:pathLst>
              <a:path w="649246" h="656407">
                <a:moveTo>
                  <a:pt x="0" y="0"/>
                </a:moveTo>
                <a:lnTo>
                  <a:pt x="649246" y="0"/>
                </a:lnTo>
                <a:lnTo>
                  <a:pt x="649246" y="656407"/>
                </a:lnTo>
                <a:lnTo>
                  <a:pt x="0" y="6564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14687091" y="1549536"/>
            <a:ext cx="3828391" cy="2733357"/>
          </a:xfrm>
          <a:custGeom>
            <a:avLst/>
            <a:gdLst/>
            <a:ahLst/>
            <a:cxnLst/>
            <a:rect l="l" t="t" r="r" b="b"/>
            <a:pathLst>
              <a:path w="4654322" h="2733357">
                <a:moveTo>
                  <a:pt x="0" y="0"/>
                </a:moveTo>
                <a:lnTo>
                  <a:pt x="4654322" y="0"/>
                </a:lnTo>
                <a:lnTo>
                  <a:pt x="4654322" y="2733357"/>
                </a:lnTo>
                <a:lnTo>
                  <a:pt x="0" y="273335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dirty="0"/>
          </a:p>
        </p:txBody>
      </p:sp>
      <p:sp>
        <p:nvSpPr>
          <p:cNvPr id="12" name="TextBox 12"/>
          <p:cNvSpPr txBox="1"/>
          <p:nvPr/>
        </p:nvSpPr>
        <p:spPr>
          <a:xfrm>
            <a:off x="8471029" y="3385211"/>
            <a:ext cx="6145257" cy="1795363"/>
          </a:xfrm>
          <a:prstGeom prst="rect">
            <a:avLst/>
          </a:prstGeom>
        </p:spPr>
        <p:txBody>
          <a:bodyPr wrap="square" lIns="0" tIns="0" rIns="0" bIns="0" rtlCol="0" anchor="t">
            <a:spAutoFit/>
          </a:bodyPr>
          <a:lstStyle/>
          <a:p>
            <a:pPr>
              <a:lnSpc>
                <a:spcPts val="2800"/>
              </a:lnSpc>
            </a:pPr>
            <a:r>
              <a:rPr lang="en-US" sz="2400" b="1" dirty="0">
                <a:solidFill>
                  <a:schemeClr val="bg1"/>
                </a:solidFill>
              </a:rPr>
              <a:t>Positive:</a:t>
            </a:r>
            <a:br>
              <a:rPr lang="en-US" sz="2400" dirty="0">
                <a:solidFill>
                  <a:schemeClr val="bg1"/>
                </a:solidFill>
              </a:rPr>
            </a:br>
            <a:r>
              <a:rPr lang="en-US" sz="2400" dirty="0">
                <a:solidFill>
                  <a:schemeClr val="bg1"/>
                </a:solidFill>
              </a:rPr>
              <a:t>Cities with higher ratings reflect better customer satisfaction, strong service quality, and enjoyable shopping experiences. These locations show efficient management and consistent footfall.</a:t>
            </a:r>
            <a:endParaRPr lang="en-US" sz="2400" dirty="0">
              <a:solidFill>
                <a:schemeClr val="bg1"/>
              </a:solidFill>
              <a:latin typeface="Poppins"/>
              <a:ea typeface="Poppins"/>
              <a:cs typeface="Poppins"/>
              <a:sym typeface="Poppins"/>
            </a:endParaRPr>
          </a:p>
        </p:txBody>
      </p:sp>
      <p:sp>
        <p:nvSpPr>
          <p:cNvPr id="14" name="TextBox 14"/>
          <p:cNvSpPr txBox="1"/>
          <p:nvPr/>
        </p:nvSpPr>
        <p:spPr>
          <a:xfrm>
            <a:off x="8259149" y="1726930"/>
            <a:ext cx="6286332" cy="903774"/>
          </a:xfrm>
          <a:prstGeom prst="rect">
            <a:avLst/>
          </a:prstGeom>
        </p:spPr>
        <p:txBody>
          <a:bodyPr wrap="square" lIns="0" tIns="0" rIns="0" bIns="0" rtlCol="0" anchor="t">
            <a:spAutoFit/>
          </a:bodyPr>
          <a:lstStyle/>
          <a:p>
            <a:pPr>
              <a:lnSpc>
                <a:spcPts val="7480"/>
              </a:lnSpc>
            </a:pPr>
            <a:r>
              <a:rPr lang="en-US" sz="5400" b="1" dirty="0">
                <a:solidFill>
                  <a:schemeClr val="bg1"/>
                </a:solidFill>
                <a:latin typeface="Arial Black" panose="020B0A04020102020204" pitchFamily="34" charset="0"/>
              </a:rPr>
              <a:t>Rating of Cities</a:t>
            </a:r>
            <a:endParaRPr lang="en-US" sz="5400" b="1" dirty="0">
              <a:solidFill>
                <a:schemeClr val="bg1"/>
              </a:solidFill>
              <a:latin typeface="Arial Black" panose="020B0A04020102020204" pitchFamily="34" charset="0"/>
              <a:ea typeface="Agrandir Bold"/>
              <a:cs typeface="Agrandir Bold"/>
              <a:sym typeface="Agrandir Bold"/>
            </a:endParaRPr>
          </a:p>
        </p:txBody>
      </p:sp>
      <p:sp>
        <p:nvSpPr>
          <p:cNvPr id="15" name="TextBox 15"/>
          <p:cNvSpPr txBox="1"/>
          <p:nvPr/>
        </p:nvSpPr>
        <p:spPr>
          <a:xfrm>
            <a:off x="8541835" y="6198131"/>
            <a:ext cx="9468303" cy="1077218"/>
          </a:xfrm>
          <a:prstGeom prst="rect">
            <a:avLst/>
          </a:prstGeom>
        </p:spPr>
        <p:txBody>
          <a:bodyPr wrap="square" lIns="0" tIns="0" rIns="0" bIns="0" rtlCol="0" anchor="t">
            <a:spAutoFit/>
          </a:bodyPr>
          <a:lstStyle/>
          <a:p>
            <a:pPr>
              <a:lnSpc>
                <a:spcPts val="2800"/>
              </a:lnSpc>
            </a:pPr>
            <a:r>
              <a:rPr lang="en-US" sz="2400" b="1" dirty="0">
                <a:solidFill>
                  <a:schemeClr val="bg1"/>
                </a:solidFill>
              </a:rPr>
              <a:t>Negative:</a:t>
            </a:r>
            <a:br>
              <a:rPr lang="en-US" sz="2400" dirty="0">
                <a:solidFill>
                  <a:schemeClr val="bg1"/>
                </a:solidFill>
              </a:rPr>
            </a:br>
            <a:r>
              <a:rPr lang="en-US" sz="2400" dirty="0">
                <a:solidFill>
                  <a:schemeClr val="bg1"/>
                </a:solidFill>
              </a:rPr>
              <a:t>Lower-rated cities indicate issues in service, limited facilities, or customer dissatisfaction, highlighting areas needing improvement.</a:t>
            </a:r>
            <a:endParaRPr lang="en-US" sz="2400" dirty="0">
              <a:solidFill>
                <a:schemeClr val="bg1"/>
              </a:solidFill>
              <a:latin typeface="Poppins"/>
              <a:ea typeface="Poppins"/>
              <a:cs typeface="Poppins"/>
              <a:sym typeface="Poppins"/>
            </a:endParaRPr>
          </a:p>
        </p:txBody>
      </p:sp>
      <p:sp>
        <p:nvSpPr>
          <p:cNvPr id="16" name="Freeform 16"/>
          <p:cNvSpPr/>
          <p:nvPr/>
        </p:nvSpPr>
        <p:spPr>
          <a:xfrm rot="4455130" flipH="1">
            <a:off x="14742757" y="8315427"/>
            <a:ext cx="2666577" cy="1732714"/>
          </a:xfrm>
          <a:custGeom>
            <a:avLst/>
            <a:gdLst/>
            <a:ahLst/>
            <a:cxnLst/>
            <a:rect l="l" t="t" r="r" b="b"/>
            <a:pathLst>
              <a:path w="4075892" h="3467752">
                <a:moveTo>
                  <a:pt x="4075892" y="0"/>
                </a:moveTo>
                <a:lnTo>
                  <a:pt x="0" y="0"/>
                </a:lnTo>
                <a:lnTo>
                  <a:pt x="0" y="3467752"/>
                </a:lnTo>
                <a:lnTo>
                  <a:pt x="4075892" y="3467752"/>
                </a:lnTo>
                <a:lnTo>
                  <a:pt x="4075892"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7" name="Group 17"/>
          <p:cNvGrpSpPr/>
          <p:nvPr/>
        </p:nvGrpSpPr>
        <p:grpSpPr>
          <a:xfrm>
            <a:off x="53873" y="768202"/>
            <a:ext cx="1543050" cy="781016"/>
            <a:chOff x="0" y="0"/>
            <a:chExt cx="406400" cy="205700"/>
          </a:xfrm>
        </p:grpSpPr>
        <p:sp>
          <p:nvSpPr>
            <p:cNvPr id="18" name="Freeform 18"/>
            <p:cNvSpPr/>
            <p:nvPr/>
          </p:nvSpPr>
          <p:spPr>
            <a:xfrm>
              <a:off x="0" y="0"/>
              <a:ext cx="406400" cy="205700"/>
            </a:xfrm>
            <a:custGeom>
              <a:avLst/>
              <a:gdLst/>
              <a:ahLst/>
              <a:cxnLst/>
              <a:rect l="l" t="t" r="r" b="b"/>
              <a:pathLst>
                <a:path w="406400" h="205700">
                  <a:moveTo>
                    <a:pt x="0" y="0"/>
                  </a:moveTo>
                  <a:lnTo>
                    <a:pt x="406400" y="0"/>
                  </a:lnTo>
                  <a:lnTo>
                    <a:pt x="406400" y="205700"/>
                  </a:lnTo>
                  <a:lnTo>
                    <a:pt x="0" y="205700"/>
                  </a:lnTo>
                  <a:close/>
                </a:path>
              </a:pathLst>
            </a:custGeom>
            <a:solidFill>
              <a:srgbClr val="243458"/>
            </a:solidFill>
          </p:spPr>
        </p:sp>
        <p:sp>
          <p:nvSpPr>
            <p:cNvPr id="19" name="TextBox 19"/>
            <p:cNvSpPr txBox="1"/>
            <p:nvPr/>
          </p:nvSpPr>
          <p:spPr>
            <a:xfrm>
              <a:off x="0" y="-57150"/>
              <a:ext cx="406400" cy="262850"/>
            </a:xfrm>
            <a:prstGeom prst="rect">
              <a:avLst/>
            </a:prstGeom>
          </p:spPr>
          <p:txBody>
            <a:bodyPr lIns="50800" tIns="50800" rIns="50800" bIns="50800" rtlCol="0" anchor="ctr"/>
            <a:lstStyle/>
            <a:p>
              <a:pPr algn="ctr">
                <a:lnSpc>
                  <a:spcPts val="3220"/>
                </a:lnSpc>
              </a:pPr>
              <a:endParaRPr/>
            </a:p>
          </p:txBody>
        </p:sp>
      </p:grpSp>
      <p:sp>
        <p:nvSpPr>
          <p:cNvPr id="20" name="Freeform 20"/>
          <p:cNvSpPr/>
          <p:nvPr/>
        </p:nvSpPr>
        <p:spPr>
          <a:xfrm>
            <a:off x="1581077" y="9754359"/>
            <a:ext cx="4218937" cy="1065282"/>
          </a:xfrm>
          <a:custGeom>
            <a:avLst/>
            <a:gdLst/>
            <a:ahLst/>
            <a:cxnLst/>
            <a:rect l="l" t="t" r="r" b="b"/>
            <a:pathLst>
              <a:path w="4218937" h="1065282">
                <a:moveTo>
                  <a:pt x="0" y="0"/>
                </a:moveTo>
                <a:lnTo>
                  <a:pt x="4218938" y="0"/>
                </a:lnTo>
                <a:lnTo>
                  <a:pt x="4218938" y="1065282"/>
                </a:lnTo>
                <a:lnTo>
                  <a:pt x="0" y="106528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pic>
        <p:nvPicPr>
          <p:cNvPr id="24" name="Picture 23" descr="A screenshot of a graph&#10;&#10;AI-generated content may be incorrect.">
            <a:extLst>
              <a:ext uri="{FF2B5EF4-FFF2-40B4-BE49-F238E27FC236}">
                <a16:creationId xmlns:a16="http://schemas.microsoft.com/office/drawing/2014/main" id="{D49E8691-EE0C-5127-F5EE-7AF0E477F0E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46791" y="1549218"/>
            <a:ext cx="6782796" cy="3416570"/>
          </a:xfrm>
          <a:prstGeom prst="rect">
            <a:avLst/>
          </a:prstGeom>
        </p:spPr>
      </p:pic>
      <p:sp>
        <p:nvSpPr>
          <p:cNvPr id="33" name="Freeform 8">
            <a:extLst>
              <a:ext uri="{FF2B5EF4-FFF2-40B4-BE49-F238E27FC236}">
                <a16:creationId xmlns:a16="http://schemas.microsoft.com/office/drawing/2014/main" id="{E78EF6DF-D6C3-7FE0-D757-FFEB1F0A8E44}"/>
              </a:ext>
            </a:extLst>
          </p:cNvPr>
          <p:cNvSpPr/>
          <p:nvPr/>
        </p:nvSpPr>
        <p:spPr>
          <a:xfrm>
            <a:off x="7542558" y="6399080"/>
            <a:ext cx="649246" cy="656407"/>
          </a:xfrm>
          <a:custGeom>
            <a:avLst/>
            <a:gdLst/>
            <a:ahLst/>
            <a:cxnLst/>
            <a:rect l="l" t="t" r="r" b="b"/>
            <a:pathLst>
              <a:path w="649246" h="656407">
                <a:moveTo>
                  <a:pt x="0" y="0"/>
                </a:moveTo>
                <a:lnTo>
                  <a:pt x="649246" y="0"/>
                </a:lnTo>
                <a:lnTo>
                  <a:pt x="649246" y="656407"/>
                </a:lnTo>
                <a:lnTo>
                  <a:pt x="0" y="6564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35" name="Picture 34" descr="A screenshot of a graph">
            <a:extLst>
              <a:ext uri="{FF2B5EF4-FFF2-40B4-BE49-F238E27FC236}">
                <a16:creationId xmlns:a16="http://schemas.microsoft.com/office/drawing/2014/main" id="{8B9712A6-9F7F-C3A4-3C28-BC1E54A2B25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27816" y="5119922"/>
            <a:ext cx="6601771" cy="39728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BC6A-B61D-2B9F-65A1-FF2CEA004158}"/>
            </a:ext>
          </a:extLst>
        </p:cNvPr>
        <p:cNvGrpSpPr/>
        <p:nvPr/>
      </p:nvGrpSpPr>
      <p:grpSpPr>
        <a:xfrm>
          <a:off x="0" y="0"/>
          <a:ext cx="0" cy="0"/>
          <a:chOff x="0" y="0"/>
          <a:chExt cx="0" cy="0"/>
        </a:xfrm>
      </p:grpSpPr>
      <p:sp>
        <p:nvSpPr>
          <p:cNvPr id="2" name="Freeform 4">
            <a:extLst>
              <a:ext uri="{FF2B5EF4-FFF2-40B4-BE49-F238E27FC236}">
                <a16:creationId xmlns:a16="http://schemas.microsoft.com/office/drawing/2014/main" id="{51CBDEAF-41C7-F5C6-8A9F-91D2BBEC8E57}"/>
              </a:ext>
            </a:extLst>
          </p:cNvPr>
          <p:cNvSpPr/>
          <p:nvPr/>
        </p:nvSpPr>
        <p:spPr>
          <a:xfrm>
            <a:off x="228599" y="918932"/>
            <a:ext cx="11201401" cy="8229600"/>
          </a:xfrm>
          <a:custGeom>
            <a:avLst/>
            <a:gdLst/>
            <a:ahLst/>
            <a:cxnLst/>
            <a:rect l="l" t="t" r="r" b="b"/>
            <a:pathLst>
              <a:path w="3662926" h="2167467">
                <a:moveTo>
                  <a:pt x="28390" y="0"/>
                </a:moveTo>
                <a:lnTo>
                  <a:pt x="3634536" y="0"/>
                </a:lnTo>
                <a:cubicBezTo>
                  <a:pt x="3650216" y="0"/>
                  <a:pt x="3662926" y="12711"/>
                  <a:pt x="3662926" y="28390"/>
                </a:cubicBezTo>
                <a:lnTo>
                  <a:pt x="3662926" y="2139077"/>
                </a:lnTo>
                <a:cubicBezTo>
                  <a:pt x="3662926" y="2154756"/>
                  <a:pt x="3650216" y="2167467"/>
                  <a:pt x="3634536" y="2167467"/>
                </a:cubicBezTo>
                <a:lnTo>
                  <a:pt x="28390" y="2167467"/>
                </a:lnTo>
                <a:cubicBezTo>
                  <a:pt x="20860" y="2167467"/>
                  <a:pt x="13639" y="2164476"/>
                  <a:pt x="8315" y="2159152"/>
                </a:cubicBezTo>
                <a:cubicBezTo>
                  <a:pt x="2991" y="2153827"/>
                  <a:pt x="0" y="2146606"/>
                  <a:pt x="0" y="2139077"/>
                </a:cubicBezTo>
                <a:lnTo>
                  <a:pt x="0" y="28390"/>
                </a:lnTo>
                <a:cubicBezTo>
                  <a:pt x="0" y="12711"/>
                  <a:pt x="12711" y="0"/>
                  <a:pt x="28390" y="0"/>
                </a:cubicBezTo>
                <a:close/>
              </a:path>
            </a:pathLst>
          </a:custGeom>
          <a:solidFill>
            <a:srgbClr val="243458"/>
          </a:solidFill>
        </p:spPr>
      </p:sp>
      <p:sp>
        <p:nvSpPr>
          <p:cNvPr id="7" name="Freeform 16">
            <a:extLst>
              <a:ext uri="{FF2B5EF4-FFF2-40B4-BE49-F238E27FC236}">
                <a16:creationId xmlns:a16="http://schemas.microsoft.com/office/drawing/2014/main" id="{990BA396-5307-F6B3-8716-B8D090EFC5D5}"/>
              </a:ext>
            </a:extLst>
          </p:cNvPr>
          <p:cNvSpPr/>
          <p:nvPr/>
        </p:nvSpPr>
        <p:spPr>
          <a:xfrm rot="-5279693">
            <a:off x="9413765" y="-1009808"/>
            <a:ext cx="2048684" cy="4267253"/>
          </a:xfrm>
          <a:custGeom>
            <a:avLst/>
            <a:gdLst/>
            <a:ahLst/>
            <a:cxnLst/>
            <a:rect l="l" t="t" r="r" b="b"/>
            <a:pathLst>
              <a:path w="4449072" h="4114800">
                <a:moveTo>
                  <a:pt x="0" y="0"/>
                </a:moveTo>
                <a:lnTo>
                  <a:pt x="4449072" y="0"/>
                </a:lnTo>
                <a:lnTo>
                  <a:pt x="444907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8" name="TextBox 7">
            <a:extLst>
              <a:ext uri="{FF2B5EF4-FFF2-40B4-BE49-F238E27FC236}">
                <a16:creationId xmlns:a16="http://schemas.microsoft.com/office/drawing/2014/main" id="{A4BB6CBE-6991-B204-5F8D-7119F9471EA4}"/>
              </a:ext>
            </a:extLst>
          </p:cNvPr>
          <p:cNvSpPr txBox="1"/>
          <p:nvPr/>
        </p:nvSpPr>
        <p:spPr>
          <a:xfrm>
            <a:off x="736701" y="1725842"/>
            <a:ext cx="8646410" cy="903774"/>
          </a:xfrm>
          <a:prstGeom prst="rect">
            <a:avLst/>
          </a:prstGeom>
        </p:spPr>
        <p:txBody>
          <a:bodyPr wrap="square" lIns="0" tIns="0" rIns="0" bIns="0" rtlCol="0" anchor="t">
            <a:spAutoFit/>
          </a:bodyPr>
          <a:lstStyle>
            <a:defPPr>
              <a:defRPr lang="en-US"/>
            </a:defPPr>
            <a:lvl1pPr>
              <a:lnSpc>
                <a:spcPts val="7480"/>
              </a:lnSpc>
              <a:defRPr sz="5400" b="1">
                <a:solidFill>
                  <a:schemeClr val="bg1"/>
                </a:solidFill>
                <a:latin typeface="Arial Black" panose="020B0A04020102020204" pitchFamily="34" charset="0"/>
              </a:defRPr>
            </a:lvl1pPr>
          </a:lstStyle>
          <a:p>
            <a:r>
              <a:rPr lang="en-US" dirty="0"/>
              <a:t>Quantity of Goods</a:t>
            </a:r>
          </a:p>
        </p:txBody>
      </p:sp>
      <p:sp>
        <p:nvSpPr>
          <p:cNvPr id="9" name="TextBox 8">
            <a:extLst>
              <a:ext uri="{FF2B5EF4-FFF2-40B4-BE49-F238E27FC236}">
                <a16:creationId xmlns:a16="http://schemas.microsoft.com/office/drawing/2014/main" id="{9AD48985-1A9A-4E50-E068-5AB3966F9E61}"/>
              </a:ext>
            </a:extLst>
          </p:cNvPr>
          <p:cNvSpPr txBox="1"/>
          <p:nvPr/>
        </p:nvSpPr>
        <p:spPr>
          <a:xfrm>
            <a:off x="4800600" y="2495550"/>
            <a:ext cx="184731" cy="369332"/>
          </a:xfrm>
          <a:prstGeom prst="rect">
            <a:avLst/>
          </a:prstGeom>
          <a:noFill/>
        </p:spPr>
        <p:txBody>
          <a:bodyPr wrap="none" rtlCol="0">
            <a:spAutoFit/>
          </a:bodyPr>
          <a:lstStyle/>
          <a:p>
            <a:endParaRPr lang="en-US" dirty="0"/>
          </a:p>
        </p:txBody>
      </p:sp>
      <p:sp>
        <p:nvSpPr>
          <p:cNvPr id="12" name="Rectangle 2">
            <a:extLst>
              <a:ext uri="{FF2B5EF4-FFF2-40B4-BE49-F238E27FC236}">
                <a16:creationId xmlns:a16="http://schemas.microsoft.com/office/drawing/2014/main" id="{9D160EDD-1897-F0EB-AAB4-9D89F115BA6A}"/>
              </a:ext>
            </a:extLst>
          </p:cNvPr>
          <p:cNvSpPr>
            <a:spLocks noChangeArrowheads="1"/>
          </p:cNvSpPr>
          <p:nvPr/>
        </p:nvSpPr>
        <p:spPr bwMode="auto">
          <a:xfrm>
            <a:off x="726190" y="3203436"/>
            <a:ext cx="73152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800" dirty="0">
                <a:solidFill>
                  <a:schemeClr val="bg1"/>
                </a:solidFill>
              </a:rPr>
              <a:t>The pie chart illustrates the distribution of goods quantity across four years. The largest share appears in 2023 and 2024, reflecting higher stock movement and customer demand. Meanwhile, 2021 and 2022 contribute smaller portions. This distribution highlights changing inventory needs and growing sales activity within the mall over time.</a:t>
            </a:r>
            <a:endParaRPr kumimoji="0" lang="en-US" altLang="en-US" sz="2800" b="0" i="0" u="none" strike="noStrike" cap="none" normalizeH="0" baseline="0" dirty="0">
              <a:ln>
                <a:noFill/>
              </a:ln>
              <a:solidFill>
                <a:schemeClr val="bg1"/>
              </a:solidFill>
              <a:effectLst/>
              <a:latin typeface="Arial" panose="020B0604020202020204" pitchFamily="34" charset="0"/>
            </a:endParaRPr>
          </a:p>
        </p:txBody>
      </p:sp>
      <p:grpSp>
        <p:nvGrpSpPr>
          <p:cNvPr id="17" name="Group 17">
            <a:extLst>
              <a:ext uri="{FF2B5EF4-FFF2-40B4-BE49-F238E27FC236}">
                <a16:creationId xmlns:a16="http://schemas.microsoft.com/office/drawing/2014/main" id="{CC3D52A0-1FDF-EBBA-7C2F-96238C538A5C}"/>
              </a:ext>
            </a:extLst>
          </p:cNvPr>
          <p:cNvGrpSpPr/>
          <p:nvPr/>
        </p:nvGrpSpPr>
        <p:grpSpPr>
          <a:xfrm rot="5400000">
            <a:off x="2111048" y="99482"/>
            <a:ext cx="918192" cy="781016"/>
            <a:chOff x="0" y="0"/>
            <a:chExt cx="406400" cy="205700"/>
          </a:xfrm>
        </p:grpSpPr>
        <p:sp>
          <p:nvSpPr>
            <p:cNvPr id="18" name="Freeform 18">
              <a:extLst>
                <a:ext uri="{FF2B5EF4-FFF2-40B4-BE49-F238E27FC236}">
                  <a16:creationId xmlns:a16="http://schemas.microsoft.com/office/drawing/2014/main" id="{37BEF2EB-0F1D-C9A3-899D-357A38AD3C7D}"/>
                </a:ext>
              </a:extLst>
            </p:cNvPr>
            <p:cNvSpPr/>
            <p:nvPr/>
          </p:nvSpPr>
          <p:spPr>
            <a:xfrm>
              <a:off x="0" y="0"/>
              <a:ext cx="406400" cy="205700"/>
            </a:xfrm>
            <a:custGeom>
              <a:avLst/>
              <a:gdLst/>
              <a:ahLst/>
              <a:cxnLst/>
              <a:rect l="l" t="t" r="r" b="b"/>
              <a:pathLst>
                <a:path w="406400" h="205700">
                  <a:moveTo>
                    <a:pt x="0" y="0"/>
                  </a:moveTo>
                  <a:lnTo>
                    <a:pt x="406400" y="0"/>
                  </a:lnTo>
                  <a:lnTo>
                    <a:pt x="406400" y="205700"/>
                  </a:lnTo>
                  <a:lnTo>
                    <a:pt x="0" y="205700"/>
                  </a:lnTo>
                  <a:close/>
                </a:path>
              </a:pathLst>
            </a:custGeom>
            <a:solidFill>
              <a:srgbClr val="243458"/>
            </a:solidFill>
          </p:spPr>
        </p:sp>
        <p:sp>
          <p:nvSpPr>
            <p:cNvPr id="19" name="TextBox 19">
              <a:extLst>
                <a:ext uri="{FF2B5EF4-FFF2-40B4-BE49-F238E27FC236}">
                  <a16:creationId xmlns:a16="http://schemas.microsoft.com/office/drawing/2014/main" id="{BFD185A3-A852-B7D3-6C49-BA15F0B07D09}"/>
                </a:ext>
              </a:extLst>
            </p:cNvPr>
            <p:cNvSpPr txBox="1"/>
            <p:nvPr/>
          </p:nvSpPr>
          <p:spPr>
            <a:xfrm>
              <a:off x="0" y="-57150"/>
              <a:ext cx="406400" cy="262850"/>
            </a:xfrm>
            <a:prstGeom prst="rect">
              <a:avLst/>
            </a:prstGeom>
          </p:spPr>
          <p:txBody>
            <a:bodyPr lIns="50800" tIns="50800" rIns="50800" bIns="50800" rtlCol="0" anchor="ctr"/>
            <a:lstStyle/>
            <a:p>
              <a:pPr algn="ctr">
                <a:lnSpc>
                  <a:spcPts val="3220"/>
                </a:lnSpc>
              </a:pPr>
              <a:endParaRPr/>
            </a:p>
          </p:txBody>
        </p:sp>
      </p:grpSp>
      <p:grpSp>
        <p:nvGrpSpPr>
          <p:cNvPr id="20" name="Group 17">
            <a:extLst>
              <a:ext uri="{FF2B5EF4-FFF2-40B4-BE49-F238E27FC236}">
                <a16:creationId xmlns:a16="http://schemas.microsoft.com/office/drawing/2014/main" id="{4864E3C8-27C8-2C46-0F9C-E35B7BEE3974}"/>
              </a:ext>
            </a:extLst>
          </p:cNvPr>
          <p:cNvGrpSpPr/>
          <p:nvPr/>
        </p:nvGrpSpPr>
        <p:grpSpPr>
          <a:xfrm rot="5400000">
            <a:off x="2111048" y="9442839"/>
            <a:ext cx="918192" cy="781016"/>
            <a:chOff x="0" y="0"/>
            <a:chExt cx="406400" cy="205700"/>
          </a:xfrm>
        </p:grpSpPr>
        <p:sp>
          <p:nvSpPr>
            <p:cNvPr id="21" name="Freeform 18">
              <a:extLst>
                <a:ext uri="{FF2B5EF4-FFF2-40B4-BE49-F238E27FC236}">
                  <a16:creationId xmlns:a16="http://schemas.microsoft.com/office/drawing/2014/main" id="{3C0A3209-81B9-2150-8C38-DCDF1FEEFE3D}"/>
                </a:ext>
              </a:extLst>
            </p:cNvPr>
            <p:cNvSpPr/>
            <p:nvPr/>
          </p:nvSpPr>
          <p:spPr>
            <a:xfrm>
              <a:off x="0" y="0"/>
              <a:ext cx="406400" cy="205700"/>
            </a:xfrm>
            <a:custGeom>
              <a:avLst/>
              <a:gdLst/>
              <a:ahLst/>
              <a:cxnLst/>
              <a:rect l="l" t="t" r="r" b="b"/>
              <a:pathLst>
                <a:path w="406400" h="205700">
                  <a:moveTo>
                    <a:pt x="0" y="0"/>
                  </a:moveTo>
                  <a:lnTo>
                    <a:pt x="406400" y="0"/>
                  </a:lnTo>
                  <a:lnTo>
                    <a:pt x="406400" y="205700"/>
                  </a:lnTo>
                  <a:lnTo>
                    <a:pt x="0" y="205700"/>
                  </a:lnTo>
                  <a:close/>
                </a:path>
              </a:pathLst>
            </a:custGeom>
            <a:solidFill>
              <a:srgbClr val="243458"/>
            </a:solidFill>
          </p:spPr>
        </p:sp>
        <p:sp>
          <p:nvSpPr>
            <p:cNvPr id="22" name="TextBox 19">
              <a:extLst>
                <a:ext uri="{FF2B5EF4-FFF2-40B4-BE49-F238E27FC236}">
                  <a16:creationId xmlns:a16="http://schemas.microsoft.com/office/drawing/2014/main" id="{5F5FB436-40E0-B1B3-AAFC-7195F077D26A}"/>
                </a:ext>
              </a:extLst>
            </p:cNvPr>
            <p:cNvSpPr txBox="1"/>
            <p:nvPr/>
          </p:nvSpPr>
          <p:spPr>
            <a:xfrm>
              <a:off x="0" y="-57150"/>
              <a:ext cx="406400" cy="262850"/>
            </a:xfrm>
            <a:prstGeom prst="rect">
              <a:avLst/>
            </a:prstGeom>
          </p:spPr>
          <p:txBody>
            <a:bodyPr lIns="50800" tIns="50800" rIns="50800" bIns="50800" rtlCol="0" anchor="ctr"/>
            <a:lstStyle/>
            <a:p>
              <a:pPr algn="ctr">
                <a:lnSpc>
                  <a:spcPts val="3220"/>
                </a:lnSpc>
              </a:pPr>
              <a:endParaRPr/>
            </a:p>
          </p:txBody>
        </p:sp>
      </p:grpSp>
      <p:sp>
        <p:nvSpPr>
          <p:cNvPr id="25" name="Freeform 25"/>
          <p:cNvSpPr/>
          <p:nvPr/>
        </p:nvSpPr>
        <p:spPr>
          <a:xfrm>
            <a:off x="3177644" y="7928050"/>
            <a:ext cx="4218937" cy="1065282"/>
          </a:xfrm>
          <a:custGeom>
            <a:avLst/>
            <a:gdLst/>
            <a:ahLst/>
            <a:cxnLst/>
            <a:rect l="l" t="t" r="r" b="b"/>
            <a:pathLst>
              <a:path w="4218937" h="1065282">
                <a:moveTo>
                  <a:pt x="0" y="0"/>
                </a:moveTo>
                <a:lnTo>
                  <a:pt x="4218938" y="0"/>
                </a:lnTo>
                <a:lnTo>
                  <a:pt x="4218938" y="1065282"/>
                </a:lnTo>
                <a:lnTo>
                  <a:pt x="0" y="10652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3" name="Group 12"/>
          <p:cNvGrpSpPr/>
          <p:nvPr/>
        </p:nvGrpSpPr>
        <p:grpSpPr>
          <a:xfrm>
            <a:off x="4773224" y="9306104"/>
            <a:ext cx="5583305" cy="950002"/>
            <a:chOff x="0" y="0"/>
            <a:chExt cx="1003394" cy="170728"/>
          </a:xfrm>
        </p:grpSpPr>
        <p:sp>
          <p:nvSpPr>
            <p:cNvPr id="13" name="Freeform 13"/>
            <p:cNvSpPr/>
            <p:nvPr/>
          </p:nvSpPr>
          <p:spPr>
            <a:xfrm>
              <a:off x="0" y="0"/>
              <a:ext cx="1003394" cy="170728"/>
            </a:xfrm>
            <a:custGeom>
              <a:avLst/>
              <a:gdLst/>
              <a:ahLst/>
              <a:cxnLst/>
              <a:rect l="l" t="t" r="r" b="b"/>
              <a:pathLst>
                <a:path w="1003394" h="170728">
                  <a:moveTo>
                    <a:pt x="501697" y="0"/>
                  </a:moveTo>
                  <a:cubicBezTo>
                    <a:pt x="224617" y="0"/>
                    <a:pt x="0" y="38219"/>
                    <a:pt x="0" y="85364"/>
                  </a:cubicBezTo>
                  <a:cubicBezTo>
                    <a:pt x="0" y="132509"/>
                    <a:pt x="224617" y="170728"/>
                    <a:pt x="501697" y="170728"/>
                  </a:cubicBezTo>
                  <a:cubicBezTo>
                    <a:pt x="778777" y="170728"/>
                    <a:pt x="1003394" y="132509"/>
                    <a:pt x="1003394" y="85364"/>
                  </a:cubicBezTo>
                  <a:cubicBezTo>
                    <a:pt x="1003394" y="38219"/>
                    <a:pt x="778777" y="0"/>
                    <a:pt x="501697" y="0"/>
                  </a:cubicBezTo>
                  <a:close/>
                </a:path>
              </a:pathLst>
            </a:custGeom>
            <a:solidFill>
              <a:srgbClr val="DEDEDE"/>
            </a:solidFill>
          </p:spPr>
        </p:sp>
        <p:sp>
          <p:nvSpPr>
            <p:cNvPr id="4" name="TextBox 14"/>
            <p:cNvSpPr txBox="1"/>
            <p:nvPr/>
          </p:nvSpPr>
          <p:spPr>
            <a:xfrm>
              <a:off x="94068" y="-41144"/>
              <a:ext cx="815258" cy="195866"/>
            </a:xfrm>
            <a:prstGeom prst="rect">
              <a:avLst/>
            </a:prstGeom>
          </p:spPr>
          <p:txBody>
            <a:bodyPr lIns="50800" tIns="50800" rIns="50800" bIns="50800" rtlCol="0" anchor="ctr"/>
            <a:lstStyle/>
            <a:p>
              <a:pPr algn="ctr">
                <a:lnSpc>
                  <a:spcPts val="3220"/>
                </a:lnSpc>
              </a:pPr>
              <a:endParaRPr/>
            </a:p>
          </p:txBody>
        </p:sp>
      </p:grpSp>
      <p:sp>
        <p:nvSpPr>
          <p:cNvPr id="15" name="Freeform 15"/>
          <p:cNvSpPr/>
          <p:nvPr/>
        </p:nvSpPr>
        <p:spPr>
          <a:xfrm>
            <a:off x="7067464" y="7602178"/>
            <a:ext cx="3242904" cy="2142848"/>
          </a:xfrm>
          <a:custGeom>
            <a:avLst/>
            <a:gdLst/>
            <a:ahLst/>
            <a:cxnLst/>
            <a:rect l="l" t="t" r="r" b="b"/>
            <a:pathLst>
              <a:path w="5601758" h="3238835">
                <a:moveTo>
                  <a:pt x="0" y="0"/>
                </a:moveTo>
                <a:lnTo>
                  <a:pt x="5601758" y="0"/>
                </a:lnTo>
                <a:lnTo>
                  <a:pt x="5601758" y="3238834"/>
                </a:lnTo>
                <a:lnTo>
                  <a:pt x="0" y="32388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11" name="Picture 10" descr="A white background with black text&#10;&#10;AI-generated content may be incorrect.">
            <a:extLst>
              <a:ext uri="{FF2B5EF4-FFF2-40B4-BE49-F238E27FC236}">
                <a16:creationId xmlns:a16="http://schemas.microsoft.com/office/drawing/2014/main" id="{3FF1713B-1DB2-E233-716A-BEA095F8F71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606267" y="802901"/>
            <a:ext cx="4958001" cy="4601526"/>
          </a:xfrm>
          <a:prstGeom prst="rect">
            <a:avLst/>
          </a:prstGeom>
        </p:spPr>
      </p:pic>
      <p:pic>
        <p:nvPicPr>
          <p:cNvPr id="24" name="Picture 23" descr="A table with numbers and text&#10;&#10;AI-generated content may be incorrect.">
            <a:extLst>
              <a:ext uri="{FF2B5EF4-FFF2-40B4-BE49-F238E27FC236}">
                <a16:creationId xmlns:a16="http://schemas.microsoft.com/office/drawing/2014/main" id="{60CFE083-84C7-0404-B32F-0B7311DEC78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538981" y="2887742"/>
            <a:ext cx="3200400" cy="3210469"/>
          </a:xfrm>
          <a:prstGeom prst="rect">
            <a:avLst/>
          </a:prstGeom>
        </p:spPr>
      </p:pic>
      <p:graphicFrame>
        <p:nvGraphicFramePr>
          <p:cNvPr id="26" name="Chart 25">
            <a:extLst>
              <a:ext uri="{FF2B5EF4-FFF2-40B4-BE49-F238E27FC236}">
                <a16:creationId xmlns:a16="http://schemas.microsoft.com/office/drawing/2014/main" id="{1292A2A6-5E7F-4E2C-9FCA-F5E5C9E2A001}"/>
              </a:ext>
            </a:extLst>
          </p:cNvPr>
          <p:cNvGraphicFramePr>
            <a:graphicFrameLocks/>
          </p:cNvGraphicFramePr>
          <p:nvPr>
            <p:extLst>
              <p:ext uri="{D42A27DB-BD31-4B8C-83A1-F6EECF244321}">
                <p14:modId xmlns:p14="http://schemas.microsoft.com/office/powerpoint/2010/main" val="3892367633"/>
              </p:ext>
            </p:extLst>
          </p:nvPr>
        </p:nvGraphicFramePr>
        <p:xfrm>
          <a:off x="11012206" y="5440487"/>
          <a:ext cx="6785897" cy="4601526"/>
        </p:xfrm>
        <a:graphic>
          <a:graphicData uri="http://schemas.openxmlformats.org/drawingml/2006/chart">
            <c:chart xmlns:c="http://schemas.openxmlformats.org/drawingml/2006/chart" xmlns:r="http://schemas.openxmlformats.org/officeDocument/2006/relationships" r:id="rId10"/>
          </a:graphicData>
        </a:graphic>
      </p:graphicFrame>
    </p:spTree>
    <p:extLst>
      <p:ext uri="{BB962C8B-B14F-4D97-AF65-F5344CB8AC3E}">
        <p14:creationId xmlns:p14="http://schemas.microsoft.com/office/powerpoint/2010/main" val="1633365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7" name="Group 7"/>
          <p:cNvGrpSpPr/>
          <p:nvPr/>
        </p:nvGrpSpPr>
        <p:grpSpPr>
          <a:xfrm>
            <a:off x="1253349" y="1386747"/>
            <a:ext cx="7808254" cy="7913037"/>
            <a:chOff x="0" y="0"/>
            <a:chExt cx="1891981" cy="1889153"/>
          </a:xfrm>
        </p:grpSpPr>
        <p:sp>
          <p:nvSpPr>
            <p:cNvPr id="8" name="Freeform 8"/>
            <p:cNvSpPr/>
            <p:nvPr/>
          </p:nvSpPr>
          <p:spPr>
            <a:xfrm>
              <a:off x="0" y="0"/>
              <a:ext cx="1891981" cy="1889153"/>
            </a:xfrm>
            <a:custGeom>
              <a:avLst/>
              <a:gdLst/>
              <a:ahLst/>
              <a:cxnLst/>
              <a:rect l="l" t="t" r="r" b="b"/>
              <a:pathLst>
                <a:path w="1891981" h="1889153">
                  <a:moveTo>
                    <a:pt x="54964" y="0"/>
                  </a:moveTo>
                  <a:lnTo>
                    <a:pt x="1837017" y="0"/>
                  </a:lnTo>
                  <a:cubicBezTo>
                    <a:pt x="1851594" y="0"/>
                    <a:pt x="1865574" y="5791"/>
                    <a:pt x="1875882" y="16098"/>
                  </a:cubicBezTo>
                  <a:cubicBezTo>
                    <a:pt x="1886190" y="26406"/>
                    <a:pt x="1891981" y="40386"/>
                    <a:pt x="1891981" y="54964"/>
                  </a:cubicBezTo>
                  <a:lnTo>
                    <a:pt x="1891981" y="1834189"/>
                  </a:lnTo>
                  <a:cubicBezTo>
                    <a:pt x="1891981" y="1848766"/>
                    <a:pt x="1886190" y="1862747"/>
                    <a:pt x="1875882" y="1873054"/>
                  </a:cubicBezTo>
                  <a:cubicBezTo>
                    <a:pt x="1865574" y="1883362"/>
                    <a:pt x="1851594" y="1889153"/>
                    <a:pt x="1837017" y="1889153"/>
                  </a:cubicBezTo>
                  <a:lnTo>
                    <a:pt x="54964" y="1889153"/>
                  </a:lnTo>
                  <a:cubicBezTo>
                    <a:pt x="40386" y="1889153"/>
                    <a:pt x="26406" y="1883362"/>
                    <a:pt x="16098" y="1873054"/>
                  </a:cubicBezTo>
                  <a:cubicBezTo>
                    <a:pt x="5791" y="1862747"/>
                    <a:pt x="0" y="1848766"/>
                    <a:pt x="0" y="1834189"/>
                  </a:cubicBezTo>
                  <a:lnTo>
                    <a:pt x="0" y="54964"/>
                  </a:lnTo>
                  <a:cubicBezTo>
                    <a:pt x="0" y="40386"/>
                    <a:pt x="5791" y="26406"/>
                    <a:pt x="16098" y="16098"/>
                  </a:cubicBezTo>
                  <a:cubicBezTo>
                    <a:pt x="26406" y="5791"/>
                    <a:pt x="40386" y="0"/>
                    <a:pt x="54964" y="0"/>
                  </a:cubicBezTo>
                  <a:close/>
                </a:path>
              </a:pathLst>
            </a:custGeom>
            <a:solidFill>
              <a:srgbClr val="243458"/>
            </a:solidFill>
          </p:spPr>
        </p:sp>
        <p:sp>
          <p:nvSpPr>
            <p:cNvPr id="9" name="TextBox 9"/>
            <p:cNvSpPr txBox="1"/>
            <p:nvPr/>
          </p:nvSpPr>
          <p:spPr>
            <a:xfrm>
              <a:off x="0" y="-57150"/>
              <a:ext cx="1891981" cy="1946303"/>
            </a:xfrm>
            <a:prstGeom prst="rect">
              <a:avLst/>
            </a:prstGeom>
          </p:spPr>
          <p:txBody>
            <a:bodyPr lIns="50800" tIns="50800" rIns="50800" bIns="50800" rtlCol="0" anchor="ctr"/>
            <a:lstStyle/>
            <a:p>
              <a:pPr algn="ctr">
                <a:lnSpc>
                  <a:spcPts val="3220"/>
                </a:lnSpc>
              </a:pPr>
              <a:endParaRPr/>
            </a:p>
          </p:txBody>
        </p:sp>
      </p:grpSp>
      <p:sp>
        <p:nvSpPr>
          <p:cNvPr id="10" name="Freeform 10"/>
          <p:cNvSpPr/>
          <p:nvPr/>
        </p:nvSpPr>
        <p:spPr>
          <a:xfrm>
            <a:off x="2014509" y="445367"/>
            <a:ext cx="2288791" cy="2494586"/>
          </a:xfrm>
          <a:custGeom>
            <a:avLst/>
            <a:gdLst/>
            <a:ahLst/>
            <a:cxnLst/>
            <a:rect l="l" t="t" r="r" b="b"/>
            <a:pathLst>
              <a:path w="3211237" h="3164529">
                <a:moveTo>
                  <a:pt x="0" y="0"/>
                </a:moveTo>
                <a:lnTo>
                  <a:pt x="3211237" y="0"/>
                </a:lnTo>
                <a:lnTo>
                  <a:pt x="3211237" y="3164528"/>
                </a:lnTo>
                <a:lnTo>
                  <a:pt x="0" y="31645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1760932" y="5366868"/>
            <a:ext cx="6969406" cy="2882007"/>
          </a:xfrm>
          <a:prstGeom prst="rect">
            <a:avLst/>
          </a:prstGeom>
        </p:spPr>
        <p:txBody>
          <a:bodyPr wrap="square" lIns="0" tIns="0" rIns="0" bIns="0" rtlCol="0" anchor="t">
            <a:spAutoFit/>
          </a:bodyPr>
          <a:lstStyle/>
          <a:p>
            <a:pPr>
              <a:lnSpc>
                <a:spcPts val="2800"/>
              </a:lnSpc>
            </a:pPr>
            <a:r>
              <a:rPr lang="en-US" sz="2800" i="1" dirty="0">
                <a:solidFill>
                  <a:schemeClr val="bg1"/>
                </a:solidFill>
              </a:rPr>
              <a:t>The bar graph highlights the mall’s annual revenue trend from 2021 to 2024. Revenue shows steady growth, rising from 2021 and peaking in 2024. This upward pattern indicates improved customer footfall, better sales strategies, and strong market performance, contributing to a significant overall increase in total revenue</a:t>
            </a:r>
            <a:endParaRPr lang="en-US" sz="2800" i="1" dirty="0">
              <a:solidFill>
                <a:schemeClr val="bg1"/>
              </a:solidFill>
              <a:latin typeface="Poppins"/>
              <a:ea typeface="Poppins"/>
              <a:cs typeface="Poppins"/>
              <a:sym typeface="Poppins"/>
            </a:endParaRPr>
          </a:p>
        </p:txBody>
      </p:sp>
      <p:sp>
        <p:nvSpPr>
          <p:cNvPr id="12" name="TextBox 12"/>
          <p:cNvSpPr txBox="1"/>
          <p:nvPr/>
        </p:nvSpPr>
        <p:spPr>
          <a:xfrm>
            <a:off x="2425732" y="2939953"/>
            <a:ext cx="4269486" cy="2031325"/>
          </a:xfrm>
          <a:prstGeom prst="rect">
            <a:avLst/>
          </a:prstGeom>
        </p:spPr>
        <p:txBody>
          <a:bodyPr lIns="0" tIns="0" rIns="0" bIns="0" rtlCol="0" anchor="t">
            <a:spAutoFit/>
          </a:bodyPr>
          <a:lstStyle/>
          <a:p>
            <a:pPr algn="ctr"/>
            <a:r>
              <a:rPr lang="en-US" sz="6600" b="1" dirty="0">
                <a:solidFill>
                  <a:schemeClr val="bg1"/>
                </a:solidFill>
                <a:latin typeface="Bahnschrift" panose="020B0502040204020203" pitchFamily="34" charset="0"/>
              </a:rPr>
              <a:t>Revenue of Amount</a:t>
            </a:r>
          </a:p>
        </p:txBody>
      </p:sp>
      <p:sp>
        <p:nvSpPr>
          <p:cNvPr id="13" name="Freeform 13"/>
          <p:cNvSpPr/>
          <p:nvPr/>
        </p:nvSpPr>
        <p:spPr>
          <a:xfrm rot="4633451" flipV="1">
            <a:off x="6013946" y="-394445"/>
            <a:ext cx="4545874" cy="4114800"/>
          </a:xfrm>
          <a:custGeom>
            <a:avLst/>
            <a:gdLst/>
            <a:ahLst/>
            <a:cxnLst/>
            <a:rect l="l" t="t" r="r" b="b"/>
            <a:pathLst>
              <a:path w="4545874" h="4114800">
                <a:moveTo>
                  <a:pt x="0" y="4114800"/>
                </a:moveTo>
                <a:lnTo>
                  <a:pt x="4545874" y="4114800"/>
                </a:lnTo>
                <a:lnTo>
                  <a:pt x="4545874"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4" name="Group 14"/>
          <p:cNvGrpSpPr/>
          <p:nvPr/>
        </p:nvGrpSpPr>
        <p:grpSpPr>
          <a:xfrm>
            <a:off x="17259300" y="4755437"/>
            <a:ext cx="1543050" cy="781016"/>
            <a:chOff x="0" y="0"/>
            <a:chExt cx="406400" cy="205700"/>
          </a:xfrm>
        </p:grpSpPr>
        <p:sp>
          <p:nvSpPr>
            <p:cNvPr id="15" name="Freeform 15"/>
            <p:cNvSpPr/>
            <p:nvPr/>
          </p:nvSpPr>
          <p:spPr>
            <a:xfrm>
              <a:off x="0" y="0"/>
              <a:ext cx="406400" cy="205700"/>
            </a:xfrm>
            <a:custGeom>
              <a:avLst/>
              <a:gdLst/>
              <a:ahLst/>
              <a:cxnLst/>
              <a:rect l="l" t="t" r="r" b="b"/>
              <a:pathLst>
                <a:path w="406400" h="205700">
                  <a:moveTo>
                    <a:pt x="0" y="0"/>
                  </a:moveTo>
                  <a:lnTo>
                    <a:pt x="406400" y="0"/>
                  </a:lnTo>
                  <a:lnTo>
                    <a:pt x="406400" y="205700"/>
                  </a:lnTo>
                  <a:lnTo>
                    <a:pt x="0" y="205700"/>
                  </a:lnTo>
                  <a:close/>
                </a:path>
              </a:pathLst>
            </a:custGeom>
            <a:solidFill>
              <a:srgbClr val="243458"/>
            </a:solidFill>
          </p:spPr>
        </p:sp>
        <p:sp>
          <p:nvSpPr>
            <p:cNvPr id="16" name="TextBox 16"/>
            <p:cNvSpPr txBox="1"/>
            <p:nvPr/>
          </p:nvSpPr>
          <p:spPr>
            <a:xfrm>
              <a:off x="0" y="-57150"/>
              <a:ext cx="406400" cy="262850"/>
            </a:xfrm>
            <a:prstGeom prst="rect">
              <a:avLst/>
            </a:prstGeom>
          </p:spPr>
          <p:txBody>
            <a:bodyPr lIns="50800" tIns="50800" rIns="50800" bIns="50800" rtlCol="0" anchor="ctr"/>
            <a:lstStyle/>
            <a:p>
              <a:pPr algn="ctr">
                <a:lnSpc>
                  <a:spcPts val="3220"/>
                </a:lnSpc>
              </a:pPr>
              <a:endParaRPr/>
            </a:p>
          </p:txBody>
        </p:sp>
      </p:grpSp>
      <p:sp>
        <p:nvSpPr>
          <p:cNvPr id="17" name="Freeform 17"/>
          <p:cNvSpPr/>
          <p:nvPr/>
        </p:nvSpPr>
        <p:spPr>
          <a:xfrm rot="-5400000">
            <a:off x="-2109469" y="7113281"/>
            <a:ext cx="4218937" cy="1065282"/>
          </a:xfrm>
          <a:custGeom>
            <a:avLst/>
            <a:gdLst/>
            <a:ahLst/>
            <a:cxnLst/>
            <a:rect l="l" t="t" r="r" b="b"/>
            <a:pathLst>
              <a:path w="4218937" h="1065282">
                <a:moveTo>
                  <a:pt x="0" y="0"/>
                </a:moveTo>
                <a:lnTo>
                  <a:pt x="4218938" y="0"/>
                </a:lnTo>
                <a:lnTo>
                  <a:pt x="4218938" y="1065282"/>
                </a:lnTo>
                <a:lnTo>
                  <a:pt x="0" y="10652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pic>
        <p:nvPicPr>
          <p:cNvPr id="19" name="Picture 18" descr="A colorful bar graph with numbers&#10;&#10;AI-generated content may be incorrect.">
            <a:extLst>
              <a:ext uri="{FF2B5EF4-FFF2-40B4-BE49-F238E27FC236}">
                <a16:creationId xmlns:a16="http://schemas.microsoft.com/office/drawing/2014/main" id="{178D48CE-9F3D-17B1-AB4D-CD9BF52E0C6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800602" y="5249552"/>
            <a:ext cx="6944348" cy="3905205"/>
          </a:xfrm>
          <a:prstGeom prst="rect">
            <a:avLst/>
          </a:prstGeom>
        </p:spPr>
      </p:pic>
      <p:pic>
        <p:nvPicPr>
          <p:cNvPr id="21" name="Picture 20" descr="A screenshot of a computer&#10;&#10;AI-generated content may be incorrect.">
            <a:extLst>
              <a:ext uri="{FF2B5EF4-FFF2-40B4-BE49-F238E27FC236}">
                <a16:creationId xmlns:a16="http://schemas.microsoft.com/office/drawing/2014/main" id="{9F249227-F74E-1526-D97E-FB99C8F6F70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047274" y="1579955"/>
            <a:ext cx="6655274" cy="3457494"/>
          </a:xfrm>
          <a:prstGeom prst="rect">
            <a:avLst/>
          </a:prstGeom>
        </p:spPr>
      </p:pic>
      <p:grpSp>
        <p:nvGrpSpPr>
          <p:cNvPr id="22" name="Group 8"/>
          <p:cNvGrpSpPr/>
          <p:nvPr/>
        </p:nvGrpSpPr>
        <p:grpSpPr>
          <a:xfrm>
            <a:off x="15855961" y="-65655"/>
            <a:ext cx="2357380" cy="1464211"/>
            <a:chOff x="0" y="0"/>
            <a:chExt cx="1168104" cy="1134196"/>
          </a:xfrm>
        </p:grpSpPr>
        <p:sp>
          <p:nvSpPr>
            <p:cNvPr id="23" name="Freeform 9"/>
            <p:cNvSpPr/>
            <p:nvPr/>
          </p:nvSpPr>
          <p:spPr>
            <a:xfrm>
              <a:off x="0" y="0"/>
              <a:ext cx="1168104" cy="1134196"/>
            </a:xfrm>
            <a:custGeom>
              <a:avLst/>
              <a:gdLst/>
              <a:ahLst/>
              <a:cxnLst/>
              <a:rect l="l" t="t" r="r" b="b"/>
              <a:pathLst>
                <a:path w="1168104" h="1134196">
                  <a:moveTo>
                    <a:pt x="60692" y="0"/>
                  </a:moveTo>
                  <a:lnTo>
                    <a:pt x="1107412" y="0"/>
                  </a:lnTo>
                  <a:cubicBezTo>
                    <a:pt x="1140931" y="0"/>
                    <a:pt x="1168104" y="27173"/>
                    <a:pt x="1168104" y="60692"/>
                  </a:cubicBezTo>
                  <a:lnTo>
                    <a:pt x="1168104" y="1073504"/>
                  </a:lnTo>
                  <a:cubicBezTo>
                    <a:pt x="1168104" y="1107023"/>
                    <a:pt x="1140931" y="1134196"/>
                    <a:pt x="1107412" y="1134196"/>
                  </a:cubicBezTo>
                  <a:lnTo>
                    <a:pt x="60692" y="1134196"/>
                  </a:lnTo>
                  <a:cubicBezTo>
                    <a:pt x="27173" y="1134196"/>
                    <a:pt x="0" y="1107023"/>
                    <a:pt x="0" y="1073504"/>
                  </a:cubicBezTo>
                  <a:lnTo>
                    <a:pt x="0" y="60692"/>
                  </a:lnTo>
                  <a:cubicBezTo>
                    <a:pt x="0" y="27173"/>
                    <a:pt x="27173" y="0"/>
                    <a:pt x="60692" y="0"/>
                  </a:cubicBezTo>
                  <a:close/>
                </a:path>
              </a:pathLst>
            </a:custGeom>
            <a:blipFill>
              <a:blip r:embed="rId11"/>
              <a:stretch>
                <a:fillRect l="-36308" r="-36308"/>
              </a:stretch>
            </a:blipFill>
            <a:ln w="38100" cap="rnd">
              <a:solidFill>
                <a:srgbClr val="FFFFFF"/>
              </a:solidFill>
              <a:prstDash val="solid"/>
              <a:round/>
            </a:ln>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B3828-329D-CC5F-0BB6-2840F719816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D6F66B3-BA7C-1F47-C2FF-C4295511557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a:extLst>
              <a:ext uri="{FF2B5EF4-FFF2-40B4-BE49-F238E27FC236}">
                <a16:creationId xmlns:a16="http://schemas.microsoft.com/office/drawing/2014/main" id="{3F08A12C-F904-FE43-F88B-BF2CD3334F90}"/>
              </a:ext>
            </a:extLst>
          </p:cNvPr>
          <p:cNvGrpSpPr/>
          <p:nvPr/>
        </p:nvGrpSpPr>
        <p:grpSpPr>
          <a:xfrm>
            <a:off x="5237873" y="1194202"/>
            <a:ext cx="13119167" cy="8149710"/>
            <a:chOff x="0" y="0"/>
            <a:chExt cx="3455254" cy="2146426"/>
          </a:xfrm>
        </p:grpSpPr>
        <p:sp>
          <p:nvSpPr>
            <p:cNvPr id="4" name="Freeform 4">
              <a:extLst>
                <a:ext uri="{FF2B5EF4-FFF2-40B4-BE49-F238E27FC236}">
                  <a16:creationId xmlns:a16="http://schemas.microsoft.com/office/drawing/2014/main" id="{E56D44D5-42B5-31AC-17B5-4E30657ABB72}"/>
                </a:ext>
              </a:extLst>
            </p:cNvPr>
            <p:cNvSpPr/>
            <p:nvPr/>
          </p:nvSpPr>
          <p:spPr>
            <a:xfrm>
              <a:off x="0" y="0"/>
              <a:ext cx="3455254" cy="2146426"/>
            </a:xfrm>
            <a:custGeom>
              <a:avLst/>
              <a:gdLst/>
              <a:ahLst/>
              <a:cxnLst/>
              <a:rect l="l" t="t" r="r" b="b"/>
              <a:pathLst>
                <a:path w="3455254" h="2146426">
                  <a:moveTo>
                    <a:pt x="30096" y="0"/>
                  </a:moveTo>
                  <a:lnTo>
                    <a:pt x="3425158" y="0"/>
                  </a:lnTo>
                  <a:cubicBezTo>
                    <a:pt x="3441779" y="0"/>
                    <a:pt x="3455254" y="13475"/>
                    <a:pt x="3455254" y="30096"/>
                  </a:cubicBezTo>
                  <a:lnTo>
                    <a:pt x="3455254" y="2116330"/>
                  </a:lnTo>
                  <a:cubicBezTo>
                    <a:pt x="3455254" y="2132951"/>
                    <a:pt x="3441779" y="2146426"/>
                    <a:pt x="3425158" y="2146426"/>
                  </a:cubicBezTo>
                  <a:lnTo>
                    <a:pt x="30096" y="2146426"/>
                  </a:lnTo>
                  <a:cubicBezTo>
                    <a:pt x="13475" y="2146426"/>
                    <a:pt x="0" y="2132951"/>
                    <a:pt x="0" y="2116330"/>
                  </a:cubicBezTo>
                  <a:lnTo>
                    <a:pt x="0" y="30096"/>
                  </a:lnTo>
                  <a:cubicBezTo>
                    <a:pt x="0" y="13475"/>
                    <a:pt x="13475" y="0"/>
                    <a:pt x="30096" y="0"/>
                  </a:cubicBezTo>
                  <a:close/>
                </a:path>
              </a:pathLst>
            </a:custGeom>
            <a:solidFill>
              <a:srgbClr val="243458"/>
            </a:solidFill>
          </p:spPr>
          <p:txBody>
            <a:bodyPr/>
            <a:lstStyle/>
            <a:p>
              <a:endParaRPr lang="en-US" dirty="0"/>
            </a:p>
          </p:txBody>
        </p:sp>
        <p:sp>
          <p:nvSpPr>
            <p:cNvPr id="5" name="TextBox 5">
              <a:extLst>
                <a:ext uri="{FF2B5EF4-FFF2-40B4-BE49-F238E27FC236}">
                  <a16:creationId xmlns:a16="http://schemas.microsoft.com/office/drawing/2014/main" id="{655D0F3C-5FED-7E0A-66AF-C8AB4E758E8A}"/>
                </a:ext>
              </a:extLst>
            </p:cNvPr>
            <p:cNvSpPr txBox="1"/>
            <p:nvPr/>
          </p:nvSpPr>
          <p:spPr>
            <a:xfrm>
              <a:off x="0" y="-57150"/>
              <a:ext cx="3455254" cy="2203576"/>
            </a:xfrm>
            <a:prstGeom prst="rect">
              <a:avLst/>
            </a:prstGeom>
          </p:spPr>
          <p:txBody>
            <a:bodyPr lIns="50800" tIns="50800" rIns="50800" bIns="50800" rtlCol="0" anchor="ctr"/>
            <a:lstStyle/>
            <a:p>
              <a:pPr algn="ctr">
                <a:lnSpc>
                  <a:spcPts val="3220"/>
                </a:lnSpc>
              </a:pPr>
              <a:endParaRPr/>
            </a:p>
          </p:txBody>
        </p:sp>
      </p:grpSp>
      <p:sp>
        <p:nvSpPr>
          <p:cNvPr id="8" name="Freeform 8">
            <a:extLst>
              <a:ext uri="{FF2B5EF4-FFF2-40B4-BE49-F238E27FC236}">
                <a16:creationId xmlns:a16="http://schemas.microsoft.com/office/drawing/2014/main" id="{EF7EC134-F42C-781D-3180-941F5C87D2C0}"/>
              </a:ext>
            </a:extLst>
          </p:cNvPr>
          <p:cNvSpPr/>
          <p:nvPr/>
        </p:nvSpPr>
        <p:spPr>
          <a:xfrm>
            <a:off x="7609903" y="3454248"/>
            <a:ext cx="649246" cy="656407"/>
          </a:xfrm>
          <a:custGeom>
            <a:avLst/>
            <a:gdLst/>
            <a:ahLst/>
            <a:cxnLst/>
            <a:rect l="l" t="t" r="r" b="b"/>
            <a:pathLst>
              <a:path w="649246" h="656407">
                <a:moveTo>
                  <a:pt x="0" y="0"/>
                </a:moveTo>
                <a:lnTo>
                  <a:pt x="649246" y="0"/>
                </a:lnTo>
                <a:lnTo>
                  <a:pt x="649246" y="656407"/>
                </a:lnTo>
                <a:lnTo>
                  <a:pt x="0" y="6564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a:extLst>
              <a:ext uri="{FF2B5EF4-FFF2-40B4-BE49-F238E27FC236}">
                <a16:creationId xmlns:a16="http://schemas.microsoft.com/office/drawing/2014/main" id="{382A2E8B-8F14-76FC-BED2-A5E402A6A8E3}"/>
              </a:ext>
            </a:extLst>
          </p:cNvPr>
          <p:cNvSpPr/>
          <p:nvPr/>
        </p:nvSpPr>
        <p:spPr>
          <a:xfrm>
            <a:off x="14687091" y="1549536"/>
            <a:ext cx="3828391" cy="2733357"/>
          </a:xfrm>
          <a:custGeom>
            <a:avLst/>
            <a:gdLst/>
            <a:ahLst/>
            <a:cxnLst/>
            <a:rect l="l" t="t" r="r" b="b"/>
            <a:pathLst>
              <a:path w="4654322" h="2733357">
                <a:moveTo>
                  <a:pt x="0" y="0"/>
                </a:moveTo>
                <a:lnTo>
                  <a:pt x="4654322" y="0"/>
                </a:lnTo>
                <a:lnTo>
                  <a:pt x="4654322" y="2733357"/>
                </a:lnTo>
                <a:lnTo>
                  <a:pt x="0" y="273335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dirty="0"/>
          </a:p>
        </p:txBody>
      </p:sp>
      <p:sp>
        <p:nvSpPr>
          <p:cNvPr id="12" name="TextBox 12">
            <a:extLst>
              <a:ext uri="{FF2B5EF4-FFF2-40B4-BE49-F238E27FC236}">
                <a16:creationId xmlns:a16="http://schemas.microsoft.com/office/drawing/2014/main" id="{DAD8656D-6102-CD72-B44B-785E66A25882}"/>
              </a:ext>
            </a:extLst>
          </p:cNvPr>
          <p:cNvSpPr txBox="1"/>
          <p:nvPr/>
        </p:nvSpPr>
        <p:spPr>
          <a:xfrm>
            <a:off x="8541835" y="3065434"/>
            <a:ext cx="5396352" cy="1776448"/>
          </a:xfrm>
          <a:prstGeom prst="rect">
            <a:avLst/>
          </a:prstGeom>
        </p:spPr>
        <p:txBody>
          <a:bodyPr wrap="square" lIns="0" tIns="0" rIns="0" bIns="0" rtlCol="0" anchor="t">
            <a:spAutoFit/>
          </a:bodyPr>
          <a:lstStyle/>
          <a:p>
            <a:pPr>
              <a:lnSpc>
                <a:spcPts val="2800"/>
              </a:lnSpc>
            </a:pPr>
            <a:r>
              <a:rPr lang="en-US" sz="2000" b="1" dirty="0">
                <a:solidFill>
                  <a:schemeClr val="bg1"/>
                </a:solidFill>
              </a:rPr>
              <a:t>Positive:</a:t>
            </a:r>
            <a:br>
              <a:rPr lang="en-US" sz="2000" dirty="0">
                <a:solidFill>
                  <a:schemeClr val="bg1"/>
                </a:solidFill>
              </a:rPr>
            </a:br>
            <a:r>
              <a:rPr lang="en-US" sz="2000" dirty="0">
                <a:solidFill>
                  <a:schemeClr val="bg1"/>
                </a:solidFill>
              </a:rPr>
              <a:t>Cities with higher ratings reflect better customer satisfaction, strong service quality, and enjoyable shopping experiences. These locations show efficient management and consistent footfall.</a:t>
            </a:r>
            <a:endParaRPr lang="en-US" sz="2000" dirty="0">
              <a:solidFill>
                <a:schemeClr val="bg1"/>
              </a:solidFill>
              <a:latin typeface="Poppins"/>
              <a:ea typeface="Poppins"/>
              <a:cs typeface="Poppins"/>
              <a:sym typeface="Poppins"/>
            </a:endParaRPr>
          </a:p>
        </p:txBody>
      </p:sp>
      <p:sp>
        <p:nvSpPr>
          <p:cNvPr id="14" name="TextBox 14">
            <a:extLst>
              <a:ext uri="{FF2B5EF4-FFF2-40B4-BE49-F238E27FC236}">
                <a16:creationId xmlns:a16="http://schemas.microsoft.com/office/drawing/2014/main" id="{7EB8B4EA-CA02-A91C-60A3-F10F2117DD96}"/>
              </a:ext>
            </a:extLst>
          </p:cNvPr>
          <p:cNvSpPr txBox="1"/>
          <p:nvPr/>
        </p:nvSpPr>
        <p:spPr>
          <a:xfrm>
            <a:off x="8259149" y="1726930"/>
            <a:ext cx="6286332" cy="903774"/>
          </a:xfrm>
          <a:prstGeom prst="rect">
            <a:avLst/>
          </a:prstGeom>
        </p:spPr>
        <p:txBody>
          <a:bodyPr wrap="square" lIns="0" tIns="0" rIns="0" bIns="0" rtlCol="0" anchor="t">
            <a:spAutoFit/>
          </a:bodyPr>
          <a:lstStyle/>
          <a:p>
            <a:pPr>
              <a:lnSpc>
                <a:spcPts val="7480"/>
              </a:lnSpc>
            </a:pPr>
            <a:r>
              <a:rPr lang="en-US" sz="5400" b="1" dirty="0">
                <a:solidFill>
                  <a:schemeClr val="bg1"/>
                </a:solidFill>
                <a:latin typeface="Arial Black" panose="020B0A04020102020204" pitchFamily="34" charset="0"/>
              </a:rPr>
              <a:t>Rating of Cities</a:t>
            </a:r>
            <a:endParaRPr lang="en-US" sz="5400" b="1" dirty="0">
              <a:solidFill>
                <a:schemeClr val="bg1"/>
              </a:solidFill>
              <a:latin typeface="Arial Black" panose="020B0A04020102020204" pitchFamily="34" charset="0"/>
              <a:ea typeface="Agrandir Bold"/>
              <a:cs typeface="Agrandir Bold"/>
              <a:sym typeface="Agrandir Bold"/>
            </a:endParaRPr>
          </a:p>
        </p:txBody>
      </p:sp>
      <p:sp>
        <p:nvSpPr>
          <p:cNvPr id="15" name="TextBox 15">
            <a:extLst>
              <a:ext uri="{FF2B5EF4-FFF2-40B4-BE49-F238E27FC236}">
                <a16:creationId xmlns:a16="http://schemas.microsoft.com/office/drawing/2014/main" id="{9C910E69-DE55-A95B-CF64-3C75B9ED029E}"/>
              </a:ext>
            </a:extLst>
          </p:cNvPr>
          <p:cNvSpPr txBox="1"/>
          <p:nvPr/>
        </p:nvSpPr>
        <p:spPr>
          <a:xfrm>
            <a:off x="8541835" y="6198131"/>
            <a:ext cx="9468303" cy="1077218"/>
          </a:xfrm>
          <a:prstGeom prst="rect">
            <a:avLst/>
          </a:prstGeom>
        </p:spPr>
        <p:txBody>
          <a:bodyPr wrap="square" lIns="0" tIns="0" rIns="0" bIns="0" rtlCol="0" anchor="t">
            <a:spAutoFit/>
          </a:bodyPr>
          <a:lstStyle/>
          <a:p>
            <a:pPr>
              <a:lnSpc>
                <a:spcPts val="2800"/>
              </a:lnSpc>
            </a:pPr>
            <a:r>
              <a:rPr lang="en-US" sz="2000" b="1" dirty="0">
                <a:solidFill>
                  <a:schemeClr val="bg1"/>
                </a:solidFill>
              </a:rPr>
              <a:t>Negative:</a:t>
            </a:r>
            <a:br>
              <a:rPr lang="en-US" sz="2000" dirty="0">
                <a:solidFill>
                  <a:schemeClr val="bg1"/>
                </a:solidFill>
              </a:rPr>
            </a:br>
            <a:r>
              <a:rPr lang="en-US" sz="2000" dirty="0">
                <a:solidFill>
                  <a:schemeClr val="bg1"/>
                </a:solidFill>
              </a:rPr>
              <a:t>Lower-rated cities indicate issues in service, limited facilities, or customer dissatisfaction, highlighting areas needing improvement.</a:t>
            </a:r>
            <a:endParaRPr lang="en-US" sz="2000" dirty="0">
              <a:solidFill>
                <a:schemeClr val="bg1"/>
              </a:solidFill>
              <a:latin typeface="Poppins"/>
              <a:ea typeface="Poppins"/>
              <a:cs typeface="Poppins"/>
              <a:sym typeface="Poppins"/>
            </a:endParaRPr>
          </a:p>
        </p:txBody>
      </p:sp>
      <p:sp>
        <p:nvSpPr>
          <p:cNvPr id="16" name="Freeform 16">
            <a:extLst>
              <a:ext uri="{FF2B5EF4-FFF2-40B4-BE49-F238E27FC236}">
                <a16:creationId xmlns:a16="http://schemas.microsoft.com/office/drawing/2014/main" id="{CCEE9D15-213C-FB10-088D-87B3B82C12AB}"/>
              </a:ext>
            </a:extLst>
          </p:cNvPr>
          <p:cNvSpPr/>
          <p:nvPr/>
        </p:nvSpPr>
        <p:spPr>
          <a:xfrm rot="4455130" flipH="1">
            <a:off x="14742757" y="8315427"/>
            <a:ext cx="2666577" cy="1732714"/>
          </a:xfrm>
          <a:custGeom>
            <a:avLst/>
            <a:gdLst/>
            <a:ahLst/>
            <a:cxnLst/>
            <a:rect l="l" t="t" r="r" b="b"/>
            <a:pathLst>
              <a:path w="4075892" h="3467752">
                <a:moveTo>
                  <a:pt x="4075892" y="0"/>
                </a:moveTo>
                <a:lnTo>
                  <a:pt x="0" y="0"/>
                </a:lnTo>
                <a:lnTo>
                  <a:pt x="0" y="3467752"/>
                </a:lnTo>
                <a:lnTo>
                  <a:pt x="4075892" y="3467752"/>
                </a:lnTo>
                <a:lnTo>
                  <a:pt x="4075892"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7" name="Group 17">
            <a:extLst>
              <a:ext uri="{FF2B5EF4-FFF2-40B4-BE49-F238E27FC236}">
                <a16:creationId xmlns:a16="http://schemas.microsoft.com/office/drawing/2014/main" id="{7D8B4388-1E13-CFB9-9339-8BF9B7FE565E}"/>
              </a:ext>
            </a:extLst>
          </p:cNvPr>
          <p:cNvGrpSpPr/>
          <p:nvPr/>
        </p:nvGrpSpPr>
        <p:grpSpPr>
          <a:xfrm>
            <a:off x="53873" y="768202"/>
            <a:ext cx="1543050" cy="781016"/>
            <a:chOff x="0" y="0"/>
            <a:chExt cx="406400" cy="205700"/>
          </a:xfrm>
        </p:grpSpPr>
        <p:sp>
          <p:nvSpPr>
            <p:cNvPr id="18" name="Freeform 18">
              <a:extLst>
                <a:ext uri="{FF2B5EF4-FFF2-40B4-BE49-F238E27FC236}">
                  <a16:creationId xmlns:a16="http://schemas.microsoft.com/office/drawing/2014/main" id="{98ED3B39-642B-FFC7-6DED-23363E486199}"/>
                </a:ext>
              </a:extLst>
            </p:cNvPr>
            <p:cNvSpPr/>
            <p:nvPr/>
          </p:nvSpPr>
          <p:spPr>
            <a:xfrm>
              <a:off x="0" y="0"/>
              <a:ext cx="406400" cy="205700"/>
            </a:xfrm>
            <a:custGeom>
              <a:avLst/>
              <a:gdLst/>
              <a:ahLst/>
              <a:cxnLst/>
              <a:rect l="l" t="t" r="r" b="b"/>
              <a:pathLst>
                <a:path w="406400" h="205700">
                  <a:moveTo>
                    <a:pt x="0" y="0"/>
                  </a:moveTo>
                  <a:lnTo>
                    <a:pt x="406400" y="0"/>
                  </a:lnTo>
                  <a:lnTo>
                    <a:pt x="406400" y="205700"/>
                  </a:lnTo>
                  <a:lnTo>
                    <a:pt x="0" y="205700"/>
                  </a:lnTo>
                  <a:close/>
                </a:path>
              </a:pathLst>
            </a:custGeom>
            <a:solidFill>
              <a:srgbClr val="243458"/>
            </a:solidFill>
          </p:spPr>
        </p:sp>
        <p:sp>
          <p:nvSpPr>
            <p:cNvPr id="19" name="TextBox 19">
              <a:extLst>
                <a:ext uri="{FF2B5EF4-FFF2-40B4-BE49-F238E27FC236}">
                  <a16:creationId xmlns:a16="http://schemas.microsoft.com/office/drawing/2014/main" id="{42939CA2-AF6E-3AE2-82FF-A0386A4AA3BC}"/>
                </a:ext>
              </a:extLst>
            </p:cNvPr>
            <p:cNvSpPr txBox="1"/>
            <p:nvPr/>
          </p:nvSpPr>
          <p:spPr>
            <a:xfrm>
              <a:off x="0" y="-57150"/>
              <a:ext cx="406400" cy="262850"/>
            </a:xfrm>
            <a:prstGeom prst="rect">
              <a:avLst/>
            </a:prstGeom>
          </p:spPr>
          <p:txBody>
            <a:bodyPr lIns="50800" tIns="50800" rIns="50800" bIns="50800" rtlCol="0" anchor="ctr"/>
            <a:lstStyle/>
            <a:p>
              <a:pPr algn="ctr">
                <a:lnSpc>
                  <a:spcPts val="3220"/>
                </a:lnSpc>
              </a:pPr>
              <a:endParaRPr/>
            </a:p>
          </p:txBody>
        </p:sp>
      </p:grpSp>
      <p:sp>
        <p:nvSpPr>
          <p:cNvPr id="20" name="Freeform 20">
            <a:extLst>
              <a:ext uri="{FF2B5EF4-FFF2-40B4-BE49-F238E27FC236}">
                <a16:creationId xmlns:a16="http://schemas.microsoft.com/office/drawing/2014/main" id="{FC71F539-8017-6ABB-719D-D0CF573D4867}"/>
              </a:ext>
            </a:extLst>
          </p:cNvPr>
          <p:cNvSpPr/>
          <p:nvPr/>
        </p:nvSpPr>
        <p:spPr>
          <a:xfrm>
            <a:off x="1581077" y="9754359"/>
            <a:ext cx="4218937" cy="1065282"/>
          </a:xfrm>
          <a:custGeom>
            <a:avLst/>
            <a:gdLst/>
            <a:ahLst/>
            <a:cxnLst/>
            <a:rect l="l" t="t" r="r" b="b"/>
            <a:pathLst>
              <a:path w="4218937" h="1065282">
                <a:moveTo>
                  <a:pt x="0" y="0"/>
                </a:moveTo>
                <a:lnTo>
                  <a:pt x="4218938" y="0"/>
                </a:lnTo>
                <a:lnTo>
                  <a:pt x="4218938" y="1065282"/>
                </a:lnTo>
                <a:lnTo>
                  <a:pt x="0" y="106528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pic>
        <p:nvPicPr>
          <p:cNvPr id="24" name="Picture 23" descr="A screenshot of a graph&#10;&#10;AI-generated content may be incorrect.">
            <a:extLst>
              <a:ext uri="{FF2B5EF4-FFF2-40B4-BE49-F238E27FC236}">
                <a16:creationId xmlns:a16="http://schemas.microsoft.com/office/drawing/2014/main" id="{B58AF1CB-7EE3-C2DA-7A37-82B27F4350F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6530" y="2040819"/>
            <a:ext cx="7208030" cy="6239484"/>
          </a:xfrm>
          <a:prstGeom prst="rect">
            <a:avLst/>
          </a:prstGeom>
        </p:spPr>
      </p:pic>
      <p:sp>
        <p:nvSpPr>
          <p:cNvPr id="33" name="Freeform 8">
            <a:extLst>
              <a:ext uri="{FF2B5EF4-FFF2-40B4-BE49-F238E27FC236}">
                <a16:creationId xmlns:a16="http://schemas.microsoft.com/office/drawing/2014/main" id="{65C8AE4A-749B-5AB6-A70E-45461E103997}"/>
              </a:ext>
            </a:extLst>
          </p:cNvPr>
          <p:cNvSpPr/>
          <p:nvPr/>
        </p:nvSpPr>
        <p:spPr>
          <a:xfrm>
            <a:off x="7542558" y="6399080"/>
            <a:ext cx="649246" cy="656407"/>
          </a:xfrm>
          <a:custGeom>
            <a:avLst/>
            <a:gdLst/>
            <a:ahLst/>
            <a:cxnLst/>
            <a:rect l="l" t="t" r="r" b="b"/>
            <a:pathLst>
              <a:path w="649246" h="656407">
                <a:moveTo>
                  <a:pt x="0" y="0"/>
                </a:moveTo>
                <a:lnTo>
                  <a:pt x="649246" y="0"/>
                </a:lnTo>
                <a:lnTo>
                  <a:pt x="649246" y="656407"/>
                </a:lnTo>
                <a:lnTo>
                  <a:pt x="0" y="6564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681261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ABC8CEFD-0198-04AF-98DF-EBD586652CD9}"/>
              </a:ext>
            </a:extLst>
          </p:cNvPr>
          <p:cNvGrpSpPr/>
          <p:nvPr/>
        </p:nvGrpSpPr>
        <p:grpSpPr>
          <a:xfrm>
            <a:off x="749710" y="1464594"/>
            <a:ext cx="9308689" cy="8196762"/>
            <a:chOff x="0" y="0"/>
            <a:chExt cx="1891981" cy="1889153"/>
          </a:xfrm>
        </p:grpSpPr>
        <p:sp>
          <p:nvSpPr>
            <p:cNvPr id="3" name="Freeform 8">
              <a:extLst>
                <a:ext uri="{FF2B5EF4-FFF2-40B4-BE49-F238E27FC236}">
                  <a16:creationId xmlns:a16="http://schemas.microsoft.com/office/drawing/2014/main" id="{D7862D74-3C5D-FEB6-0E70-927921550380}"/>
                </a:ext>
              </a:extLst>
            </p:cNvPr>
            <p:cNvSpPr/>
            <p:nvPr/>
          </p:nvSpPr>
          <p:spPr>
            <a:xfrm>
              <a:off x="0" y="0"/>
              <a:ext cx="1891981" cy="1889153"/>
            </a:xfrm>
            <a:custGeom>
              <a:avLst/>
              <a:gdLst/>
              <a:ahLst/>
              <a:cxnLst/>
              <a:rect l="l" t="t" r="r" b="b"/>
              <a:pathLst>
                <a:path w="1891981" h="1889153">
                  <a:moveTo>
                    <a:pt x="54964" y="0"/>
                  </a:moveTo>
                  <a:lnTo>
                    <a:pt x="1837017" y="0"/>
                  </a:lnTo>
                  <a:cubicBezTo>
                    <a:pt x="1851594" y="0"/>
                    <a:pt x="1865574" y="5791"/>
                    <a:pt x="1875882" y="16098"/>
                  </a:cubicBezTo>
                  <a:cubicBezTo>
                    <a:pt x="1886190" y="26406"/>
                    <a:pt x="1891981" y="40386"/>
                    <a:pt x="1891981" y="54964"/>
                  </a:cubicBezTo>
                  <a:lnTo>
                    <a:pt x="1891981" y="1834189"/>
                  </a:lnTo>
                  <a:cubicBezTo>
                    <a:pt x="1891981" y="1848766"/>
                    <a:pt x="1886190" y="1862747"/>
                    <a:pt x="1875882" y="1873054"/>
                  </a:cubicBezTo>
                  <a:cubicBezTo>
                    <a:pt x="1865574" y="1883362"/>
                    <a:pt x="1851594" y="1889153"/>
                    <a:pt x="1837017" y="1889153"/>
                  </a:cubicBezTo>
                  <a:lnTo>
                    <a:pt x="54964" y="1889153"/>
                  </a:lnTo>
                  <a:cubicBezTo>
                    <a:pt x="40386" y="1889153"/>
                    <a:pt x="26406" y="1883362"/>
                    <a:pt x="16098" y="1873054"/>
                  </a:cubicBezTo>
                  <a:cubicBezTo>
                    <a:pt x="5791" y="1862747"/>
                    <a:pt x="0" y="1848766"/>
                    <a:pt x="0" y="1834189"/>
                  </a:cubicBezTo>
                  <a:lnTo>
                    <a:pt x="0" y="54964"/>
                  </a:lnTo>
                  <a:cubicBezTo>
                    <a:pt x="0" y="40386"/>
                    <a:pt x="5791" y="26406"/>
                    <a:pt x="16098" y="16098"/>
                  </a:cubicBezTo>
                  <a:cubicBezTo>
                    <a:pt x="26406" y="5791"/>
                    <a:pt x="40386" y="0"/>
                    <a:pt x="54964" y="0"/>
                  </a:cubicBezTo>
                  <a:close/>
                </a:path>
              </a:pathLst>
            </a:custGeom>
            <a:solidFill>
              <a:srgbClr val="243458"/>
            </a:solidFill>
          </p:spPr>
          <p:txBody>
            <a:bodyPr/>
            <a:lstStyle/>
            <a:p>
              <a:endParaRPr lang="en-US" dirty="0"/>
            </a:p>
          </p:txBody>
        </p:sp>
        <p:sp>
          <p:nvSpPr>
            <p:cNvPr id="4" name="TextBox 9">
              <a:extLst>
                <a:ext uri="{FF2B5EF4-FFF2-40B4-BE49-F238E27FC236}">
                  <a16:creationId xmlns:a16="http://schemas.microsoft.com/office/drawing/2014/main" id="{BE6D4A9C-E8D0-7A8D-4DC4-47D91756FD02}"/>
                </a:ext>
              </a:extLst>
            </p:cNvPr>
            <p:cNvSpPr txBox="1"/>
            <p:nvPr/>
          </p:nvSpPr>
          <p:spPr>
            <a:xfrm>
              <a:off x="0" y="-57150"/>
              <a:ext cx="1891981" cy="1946303"/>
            </a:xfrm>
            <a:prstGeom prst="rect">
              <a:avLst/>
            </a:prstGeom>
          </p:spPr>
          <p:txBody>
            <a:bodyPr lIns="50800" tIns="50800" rIns="50800" bIns="50800" rtlCol="0" anchor="ctr"/>
            <a:lstStyle/>
            <a:p>
              <a:pPr algn="ctr">
                <a:lnSpc>
                  <a:spcPts val="3220"/>
                </a:lnSpc>
              </a:pPr>
              <a:endParaRPr/>
            </a:p>
          </p:txBody>
        </p:sp>
      </p:grpSp>
      <p:sp>
        <p:nvSpPr>
          <p:cNvPr id="5" name="Freeform 26">
            <a:extLst>
              <a:ext uri="{FF2B5EF4-FFF2-40B4-BE49-F238E27FC236}">
                <a16:creationId xmlns:a16="http://schemas.microsoft.com/office/drawing/2014/main" id="{77CFDA0A-C9A8-7E7C-97B7-C4DA7F9D1339}"/>
              </a:ext>
            </a:extLst>
          </p:cNvPr>
          <p:cNvSpPr/>
          <p:nvPr/>
        </p:nvSpPr>
        <p:spPr>
          <a:xfrm rot="-5400000">
            <a:off x="15644192" y="2202472"/>
            <a:ext cx="4218937" cy="1065282"/>
          </a:xfrm>
          <a:custGeom>
            <a:avLst/>
            <a:gdLst/>
            <a:ahLst/>
            <a:cxnLst/>
            <a:rect l="l" t="t" r="r" b="b"/>
            <a:pathLst>
              <a:path w="4218937" h="1065282">
                <a:moveTo>
                  <a:pt x="0" y="0"/>
                </a:moveTo>
                <a:lnTo>
                  <a:pt x="4218938" y="0"/>
                </a:lnTo>
                <a:lnTo>
                  <a:pt x="4218938" y="1065282"/>
                </a:lnTo>
                <a:lnTo>
                  <a:pt x="0" y="10652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26">
            <a:extLst>
              <a:ext uri="{FF2B5EF4-FFF2-40B4-BE49-F238E27FC236}">
                <a16:creationId xmlns:a16="http://schemas.microsoft.com/office/drawing/2014/main" id="{530F2EAD-C221-9540-5021-B761A97DB63E}"/>
              </a:ext>
            </a:extLst>
          </p:cNvPr>
          <p:cNvSpPr/>
          <p:nvPr/>
        </p:nvSpPr>
        <p:spPr>
          <a:xfrm rot="-5400000">
            <a:off x="15645892" y="7019245"/>
            <a:ext cx="4218937" cy="1065282"/>
          </a:xfrm>
          <a:custGeom>
            <a:avLst/>
            <a:gdLst/>
            <a:ahLst/>
            <a:cxnLst/>
            <a:rect l="l" t="t" r="r" b="b"/>
            <a:pathLst>
              <a:path w="4218937" h="1065282">
                <a:moveTo>
                  <a:pt x="0" y="0"/>
                </a:moveTo>
                <a:lnTo>
                  <a:pt x="4218938" y="0"/>
                </a:lnTo>
                <a:lnTo>
                  <a:pt x="4218938" y="1065282"/>
                </a:lnTo>
                <a:lnTo>
                  <a:pt x="0" y="10652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16">
            <a:extLst>
              <a:ext uri="{FF2B5EF4-FFF2-40B4-BE49-F238E27FC236}">
                <a16:creationId xmlns:a16="http://schemas.microsoft.com/office/drawing/2014/main" id="{2AC376BC-CE50-FC2B-CBC5-CFB95DB89929}"/>
              </a:ext>
            </a:extLst>
          </p:cNvPr>
          <p:cNvSpPr/>
          <p:nvPr/>
        </p:nvSpPr>
        <p:spPr>
          <a:xfrm rot="361798" flipH="1">
            <a:off x="6746154" y="-603061"/>
            <a:ext cx="3905310" cy="2922275"/>
          </a:xfrm>
          <a:custGeom>
            <a:avLst/>
            <a:gdLst/>
            <a:ahLst/>
            <a:cxnLst/>
            <a:rect l="l" t="t" r="r" b="b"/>
            <a:pathLst>
              <a:path w="4075892" h="3467752">
                <a:moveTo>
                  <a:pt x="4075892" y="0"/>
                </a:moveTo>
                <a:lnTo>
                  <a:pt x="0" y="0"/>
                </a:lnTo>
                <a:lnTo>
                  <a:pt x="0" y="3467752"/>
                </a:lnTo>
                <a:lnTo>
                  <a:pt x="4075892" y="3467752"/>
                </a:lnTo>
                <a:lnTo>
                  <a:pt x="4075892" y="0"/>
                </a:lnTo>
                <a:close/>
              </a:path>
            </a:pathLst>
          </a:custGeom>
          <a:blipFill>
            <a:blip r:embed="rId4">
              <a:extLst>
                <a:ext uri="{96DAC541-7B7A-43D3-8B79-37D633B846F1}">
                  <asvg:svgBlip xmlns:asvg="http://schemas.microsoft.com/office/drawing/2016/SVG/main" r:embed="rId5"/>
                </a:ext>
              </a:extLst>
            </a:blip>
            <a:stretch>
              <a:fillRect/>
            </a:stretch>
          </a:blipFill>
        </p:spPr>
      </p:sp>
      <p:graphicFrame>
        <p:nvGraphicFramePr>
          <p:cNvPr id="8" name="Chart 7">
            <a:extLst>
              <a:ext uri="{FF2B5EF4-FFF2-40B4-BE49-F238E27FC236}">
                <a16:creationId xmlns:a16="http://schemas.microsoft.com/office/drawing/2014/main" id="{12592BAA-FCD5-406F-AC38-6228AE868A63}"/>
              </a:ext>
            </a:extLst>
          </p:cNvPr>
          <p:cNvGraphicFramePr>
            <a:graphicFrameLocks/>
          </p:cNvGraphicFramePr>
          <p:nvPr>
            <p:extLst>
              <p:ext uri="{D42A27DB-BD31-4B8C-83A1-F6EECF244321}">
                <p14:modId xmlns:p14="http://schemas.microsoft.com/office/powerpoint/2010/main" val="1361092427"/>
              </p:ext>
            </p:extLst>
          </p:nvPr>
        </p:nvGraphicFramePr>
        <p:xfrm>
          <a:off x="13650571" y="5788689"/>
          <a:ext cx="3119864" cy="387266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0" name="Chart 9">
            <a:extLst>
              <a:ext uri="{FF2B5EF4-FFF2-40B4-BE49-F238E27FC236}">
                <a16:creationId xmlns:a16="http://schemas.microsoft.com/office/drawing/2014/main" id="{F669B8DF-732B-4898-9767-87144B04459B}"/>
              </a:ext>
            </a:extLst>
          </p:cNvPr>
          <p:cNvGraphicFramePr>
            <a:graphicFrameLocks/>
          </p:cNvGraphicFramePr>
          <p:nvPr>
            <p:extLst>
              <p:ext uri="{D42A27DB-BD31-4B8C-83A1-F6EECF244321}">
                <p14:modId xmlns:p14="http://schemas.microsoft.com/office/powerpoint/2010/main" val="3266418358"/>
              </p:ext>
            </p:extLst>
          </p:nvPr>
        </p:nvGraphicFramePr>
        <p:xfrm>
          <a:off x="10364138" y="5832575"/>
          <a:ext cx="2893143" cy="3872666"/>
        </p:xfrm>
        <a:graphic>
          <a:graphicData uri="http://schemas.openxmlformats.org/drawingml/2006/chart">
            <c:chart xmlns:c="http://schemas.openxmlformats.org/drawingml/2006/chart" xmlns:r="http://schemas.openxmlformats.org/officeDocument/2006/relationships" r:id="rId7"/>
          </a:graphicData>
        </a:graphic>
      </p:graphicFrame>
      <p:sp>
        <p:nvSpPr>
          <p:cNvPr id="12" name="TextBox 11">
            <a:extLst>
              <a:ext uri="{FF2B5EF4-FFF2-40B4-BE49-F238E27FC236}">
                <a16:creationId xmlns:a16="http://schemas.microsoft.com/office/drawing/2014/main" id="{3FB8FA69-5973-6112-CC11-F5C6BAB4FFE0}"/>
              </a:ext>
            </a:extLst>
          </p:cNvPr>
          <p:cNvSpPr txBox="1"/>
          <p:nvPr/>
        </p:nvSpPr>
        <p:spPr>
          <a:xfrm>
            <a:off x="1822654" y="4421202"/>
            <a:ext cx="7162800" cy="4401205"/>
          </a:xfrm>
          <a:prstGeom prst="rect">
            <a:avLst/>
          </a:prstGeom>
          <a:noFill/>
        </p:spPr>
        <p:txBody>
          <a:bodyPr wrap="square" rtlCol="0">
            <a:spAutoFit/>
          </a:bodyPr>
          <a:lstStyle/>
          <a:p>
            <a:r>
              <a:rPr lang="en-US" sz="2800" dirty="0">
                <a:solidFill>
                  <a:schemeClr val="bg1"/>
                </a:solidFill>
              </a:rPr>
              <a:t>The bar graphs display sales performance across different categories and segments in the mall. Technology shows the highest sales among categories, while furniture and office supplies follow. </a:t>
            </a:r>
          </a:p>
          <a:p>
            <a:endParaRPr lang="en-US" sz="2800" dirty="0">
              <a:solidFill>
                <a:schemeClr val="bg1"/>
              </a:solidFill>
            </a:endParaRPr>
          </a:p>
          <a:p>
            <a:r>
              <a:rPr lang="en-US" sz="2800" dirty="0">
                <a:solidFill>
                  <a:schemeClr val="bg1"/>
                </a:solidFill>
              </a:rPr>
              <a:t>In segments, the first segment leads strongly, with the second and third segments contributing lower values. This comparison highlights key revenue-generating areas.</a:t>
            </a:r>
          </a:p>
        </p:txBody>
      </p:sp>
      <p:sp>
        <p:nvSpPr>
          <p:cNvPr id="17" name="TextBox 16">
            <a:extLst>
              <a:ext uri="{FF2B5EF4-FFF2-40B4-BE49-F238E27FC236}">
                <a16:creationId xmlns:a16="http://schemas.microsoft.com/office/drawing/2014/main" id="{46336304-6695-B64D-E918-0E3D88948686}"/>
              </a:ext>
            </a:extLst>
          </p:cNvPr>
          <p:cNvSpPr txBox="1"/>
          <p:nvPr/>
        </p:nvSpPr>
        <p:spPr>
          <a:xfrm>
            <a:off x="1961535" y="2158068"/>
            <a:ext cx="7162800" cy="1569660"/>
          </a:xfrm>
          <a:prstGeom prst="rect">
            <a:avLst/>
          </a:prstGeom>
          <a:noFill/>
        </p:spPr>
        <p:txBody>
          <a:bodyPr wrap="square" rtlCol="0">
            <a:spAutoFit/>
          </a:bodyPr>
          <a:lstStyle/>
          <a:p>
            <a:r>
              <a:rPr lang="en-US" sz="4800" dirty="0">
                <a:solidFill>
                  <a:schemeClr val="bg1"/>
                </a:solidFill>
                <a:latin typeface="Arial Black" panose="020B0A04020102020204" pitchFamily="34" charset="0"/>
              </a:rPr>
              <a:t>Sales by Category and Segment</a:t>
            </a:r>
          </a:p>
        </p:txBody>
      </p:sp>
      <p:pic>
        <p:nvPicPr>
          <p:cNvPr id="19" name="Picture 18" descr="A screenshot of a computer&#10;&#10;AI-generated content may be incorrect.">
            <a:extLst>
              <a:ext uri="{FF2B5EF4-FFF2-40B4-BE49-F238E27FC236}">
                <a16:creationId xmlns:a16="http://schemas.microsoft.com/office/drawing/2014/main" id="{CCF820BB-B789-CD33-EDEA-9A3FFFCD21D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70224" y="1216628"/>
            <a:ext cx="4333300" cy="2166649"/>
          </a:xfrm>
          <a:prstGeom prst="rect">
            <a:avLst/>
          </a:prstGeom>
        </p:spPr>
      </p:pic>
      <p:pic>
        <p:nvPicPr>
          <p:cNvPr id="21" name="Picture 20" descr="A screenshot of a calculator&#10;&#10;AI-generated content may be incorrect.">
            <a:extLst>
              <a:ext uri="{FF2B5EF4-FFF2-40B4-BE49-F238E27FC236}">
                <a16:creationId xmlns:a16="http://schemas.microsoft.com/office/drawing/2014/main" id="{676BFB32-5627-8800-BFF4-47D22B0649BE}"/>
              </a:ext>
            </a:extLst>
          </p:cNvPr>
          <p:cNvPicPr>
            <a:picLocks noChangeAspect="1"/>
          </p:cNvPicPr>
          <p:nvPr/>
        </p:nvPicPr>
        <p:blipFill>
          <a:blip r:embed="rId9">
            <a:extLst>
              <a:ext uri="{28A0092B-C50C-407E-A947-70E740481C1C}">
                <a14:useLocalDpi xmlns:a14="http://schemas.microsoft.com/office/drawing/2010/main" val="0"/>
              </a:ext>
            </a:extLst>
          </a:blip>
          <a:srcRect r="6124"/>
          <a:stretch>
            <a:fillRect/>
          </a:stretch>
        </p:blipFill>
        <p:spPr>
          <a:xfrm>
            <a:off x="12769779" y="3675845"/>
            <a:ext cx="4400996" cy="2156730"/>
          </a:xfrm>
          <a:prstGeom prst="rect">
            <a:avLst/>
          </a:prstGeom>
        </p:spPr>
      </p:pic>
    </p:spTree>
    <p:extLst>
      <p:ext uri="{BB962C8B-B14F-4D97-AF65-F5344CB8AC3E}">
        <p14:creationId xmlns:p14="http://schemas.microsoft.com/office/powerpoint/2010/main" val="1959040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AutoShape 3"/>
          <p:cNvSpPr/>
          <p:nvPr/>
        </p:nvSpPr>
        <p:spPr>
          <a:xfrm>
            <a:off x="4710514" y="6276871"/>
            <a:ext cx="4662112" cy="0"/>
          </a:xfrm>
          <a:prstGeom prst="line">
            <a:avLst/>
          </a:prstGeom>
          <a:ln w="95250" cap="flat">
            <a:solidFill>
              <a:srgbClr val="FAAC18"/>
            </a:solidFill>
            <a:prstDash val="solid"/>
            <a:headEnd type="oval" w="lg" len="lg"/>
            <a:tailEnd type="oval" w="lg" len="lg"/>
          </a:ln>
        </p:spPr>
      </p:sp>
      <p:sp>
        <p:nvSpPr>
          <p:cNvPr id="4" name="AutoShape 4"/>
          <p:cNvSpPr/>
          <p:nvPr/>
        </p:nvSpPr>
        <p:spPr>
          <a:xfrm flipV="1">
            <a:off x="3057352" y="6276871"/>
            <a:ext cx="2039202" cy="0"/>
          </a:xfrm>
          <a:prstGeom prst="line">
            <a:avLst/>
          </a:prstGeom>
          <a:ln w="95250" cap="rnd">
            <a:solidFill>
              <a:srgbClr val="FAAC18"/>
            </a:solidFill>
            <a:prstDash val="solid"/>
            <a:headEnd type="none" w="sm" len="sm"/>
            <a:tailEnd type="oval" w="lg" len="lg"/>
          </a:ln>
        </p:spPr>
      </p:sp>
      <p:sp>
        <p:nvSpPr>
          <p:cNvPr id="5" name="AutoShape 5"/>
          <p:cNvSpPr/>
          <p:nvPr/>
        </p:nvSpPr>
        <p:spPr>
          <a:xfrm>
            <a:off x="13113971" y="6276871"/>
            <a:ext cx="2116676" cy="0"/>
          </a:xfrm>
          <a:prstGeom prst="line">
            <a:avLst/>
          </a:prstGeom>
          <a:ln w="95250" cap="rnd">
            <a:solidFill>
              <a:srgbClr val="FAAC18"/>
            </a:solidFill>
            <a:prstDash val="solid"/>
            <a:headEnd type="oval" w="lg" len="lg"/>
            <a:tailEnd type="none" w="sm" len="sm"/>
          </a:ln>
        </p:spPr>
      </p:sp>
      <p:sp>
        <p:nvSpPr>
          <p:cNvPr id="6" name="AutoShape 6"/>
          <p:cNvSpPr/>
          <p:nvPr/>
        </p:nvSpPr>
        <p:spPr>
          <a:xfrm>
            <a:off x="8987156" y="6276871"/>
            <a:ext cx="4507152" cy="0"/>
          </a:xfrm>
          <a:prstGeom prst="line">
            <a:avLst/>
          </a:prstGeom>
          <a:ln w="95250" cap="flat">
            <a:solidFill>
              <a:srgbClr val="FAAC18"/>
            </a:solidFill>
            <a:prstDash val="solid"/>
            <a:headEnd type="oval" w="lg" len="lg"/>
            <a:tailEnd type="oval" w="lg" len="lg"/>
          </a:ln>
        </p:spPr>
      </p:sp>
      <p:sp>
        <p:nvSpPr>
          <p:cNvPr id="7" name="Freeform 7"/>
          <p:cNvSpPr/>
          <p:nvPr/>
        </p:nvSpPr>
        <p:spPr>
          <a:xfrm>
            <a:off x="8443288" y="4303948"/>
            <a:ext cx="1401423" cy="1401423"/>
          </a:xfrm>
          <a:custGeom>
            <a:avLst/>
            <a:gdLst/>
            <a:ahLst/>
            <a:cxnLst/>
            <a:rect l="l" t="t" r="r" b="b"/>
            <a:pathLst>
              <a:path w="1401423" h="1401423">
                <a:moveTo>
                  <a:pt x="0" y="0"/>
                </a:moveTo>
                <a:lnTo>
                  <a:pt x="1401424" y="0"/>
                </a:lnTo>
                <a:lnTo>
                  <a:pt x="1401424" y="1401423"/>
                </a:lnTo>
                <a:lnTo>
                  <a:pt x="0" y="14014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4279615" y="4303948"/>
            <a:ext cx="1401423" cy="1401423"/>
          </a:xfrm>
          <a:custGeom>
            <a:avLst/>
            <a:gdLst/>
            <a:ahLst/>
            <a:cxnLst/>
            <a:rect l="l" t="t" r="r" b="b"/>
            <a:pathLst>
              <a:path w="1401423" h="1401423">
                <a:moveTo>
                  <a:pt x="0" y="0"/>
                </a:moveTo>
                <a:lnTo>
                  <a:pt x="1401423" y="0"/>
                </a:lnTo>
                <a:lnTo>
                  <a:pt x="1401423" y="1401423"/>
                </a:lnTo>
                <a:lnTo>
                  <a:pt x="0" y="14014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a:off x="12603524" y="4303948"/>
            <a:ext cx="1401423" cy="1401423"/>
          </a:xfrm>
          <a:custGeom>
            <a:avLst/>
            <a:gdLst/>
            <a:ahLst/>
            <a:cxnLst/>
            <a:rect l="l" t="t" r="r" b="b"/>
            <a:pathLst>
              <a:path w="1401423" h="1401423">
                <a:moveTo>
                  <a:pt x="0" y="0"/>
                </a:moveTo>
                <a:lnTo>
                  <a:pt x="1401423" y="0"/>
                </a:lnTo>
                <a:lnTo>
                  <a:pt x="1401423" y="1401423"/>
                </a:lnTo>
                <a:lnTo>
                  <a:pt x="0" y="14014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3" name="Group 13"/>
          <p:cNvGrpSpPr/>
          <p:nvPr/>
        </p:nvGrpSpPr>
        <p:grpSpPr>
          <a:xfrm>
            <a:off x="8306034" y="6817295"/>
            <a:ext cx="1538677" cy="421169"/>
            <a:chOff x="0" y="0"/>
            <a:chExt cx="1484720" cy="406400"/>
          </a:xfrm>
        </p:grpSpPr>
        <p:sp>
          <p:nvSpPr>
            <p:cNvPr id="14" name="Freeform 14"/>
            <p:cNvSpPr/>
            <p:nvPr/>
          </p:nvSpPr>
          <p:spPr>
            <a:xfrm>
              <a:off x="0" y="0"/>
              <a:ext cx="1484720" cy="406400"/>
            </a:xfrm>
            <a:custGeom>
              <a:avLst/>
              <a:gdLst/>
              <a:ahLst/>
              <a:cxnLst/>
              <a:rect l="l" t="t" r="r" b="b"/>
              <a:pathLst>
                <a:path w="1484720" h="406400">
                  <a:moveTo>
                    <a:pt x="1281520" y="0"/>
                  </a:moveTo>
                  <a:cubicBezTo>
                    <a:pt x="1393744" y="0"/>
                    <a:pt x="1484720" y="90976"/>
                    <a:pt x="1484720" y="203200"/>
                  </a:cubicBezTo>
                  <a:cubicBezTo>
                    <a:pt x="1484720" y="315424"/>
                    <a:pt x="1393744" y="406400"/>
                    <a:pt x="1281520" y="406400"/>
                  </a:cubicBezTo>
                  <a:lnTo>
                    <a:pt x="203200" y="406400"/>
                  </a:lnTo>
                  <a:cubicBezTo>
                    <a:pt x="90976" y="406400"/>
                    <a:pt x="0" y="315424"/>
                    <a:pt x="0" y="203200"/>
                  </a:cubicBezTo>
                  <a:cubicBezTo>
                    <a:pt x="0" y="90976"/>
                    <a:pt x="90976" y="0"/>
                    <a:pt x="203200" y="0"/>
                  </a:cubicBezTo>
                  <a:close/>
                </a:path>
              </a:pathLst>
            </a:custGeom>
            <a:solidFill>
              <a:srgbClr val="243458"/>
            </a:solidFill>
          </p:spPr>
          <p:txBody>
            <a:bodyPr/>
            <a:lstStyle/>
            <a:p>
              <a:endParaRPr lang="en-US" dirty="0"/>
            </a:p>
          </p:txBody>
        </p:sp>
        <p:sp>
          <p:nvSpPr>
            <p:cNvPr id="15" name="TextBox 15"/>
            <p:cNvSpPr txBox="1"/>
            <p:nvPr/>
          </p:nvSpPr>
          <p:spPr>
            <a:xfrm>
              <a:off x="0" y="-57150"/>
              <a:ext cx="1484720" cy="463550"/>
            </a:xfrm>
            <a:prstGeom prst="rect">
              <a:avLst/>
            </a:prstGeom>
          </p:spPr>
          <p:txBody>
            <a:bodyPr lIns="50800" tIns="50800" rIns="50800" bIns="50800" rtlCol="0" anchor="ctr"/>
            <a:lstStyle/>
            <a:p>
              <a:pPr algn="ctr">
                <a:lnSpc>
                  <a:spcPts val="3220"/>
                </a:lnSpc>
              </a:pPr>
              <a:endParaRPr/>
            </a:p>
          </p:txBody>
        </p:sp>
      </p:grpSp>
      <p:grpSp>
        <p:nvGrpSpPr>
          <p:cNvPr id="16" name="Group 16"/>
          <p:cNvGrpSpPr/>
          <p:nvPr/>
        </p:nvGrpSpPr>
        <p:grpSpPr>
          <a:xfrm>
            <a:off x="12580338" y="6817296"/>
            <a:ext cx="1538677" cy="421169"/>
            <a:chOff x="0" y="0"/>
            <a:chExt cx="1484720" cy="406400"/>
          </a:xfrm>
        </p:grpSpPr>
        <p:sp>
          <p:nvSpPr>
            <p:cNvPr id="17" name="Freeform 17"/>
            <p:cNvSpPr/>
            <p:nvPr/>
          </p:nvSpPr>
          <p:spPr>
            <a:xfrm>
              <a:off x="0" y="0"/>
              <a:ext cx="1484720" cy="406400"/>
            </a:xfrm>
            <a:custGeom>
              <a:avLst/>
              <a:gdLst/>
              <a:ahLst/>
              <a:cxnLst/>
              <a:rect l="l" t="t" r="r" b="b"/>
              <a:pathLst>
                <a:path w="1484720" h="406400">
                  <a:moveTo>
                    <a:pt x="1281520" y="0"/>
                  </a:moveTo>
                  <a:cubicBezTo>
                    <a:pt x="1393744" y="0"/>
                    <a:pt x="1484720" y="90976"/>
                    <a:pt x="1484720" y="203200"/>
                  </a:cubicBezTo>
                  <a:cubicBezTo>
                    <a:pt x="1484720" y="315424"/>
                    <a:pt x="1393744" y="406400"/>
                    <a:pt x="1281520" y="406400"/>
                  </a:cubicBezTo>
                  <a:lnTo>
                    <a:pt x="203200" y="406400"/>
                  </a:lnTo>
                  <a:cubicBezTo>
                    <a:pt x="90976" y="406400"/>
                    <a:pt x="0" y="315424"/>
                    <a:pt x="0" y="203200"/>
                  </a:cubicBezTo>
                  <a:cubicBezTo>
                    <a:pt x="0" y="90976"/>
                    <a:pt x="90976" y="0"/>
                    <a:pt x="203200" y="0"/>
                  </a:cubicBezTo>
                  <a:close/>
                </a:path>
              </a:pathLst>
            </a:custGeom>
            <a:solidFill>
              <a:srgbClr val="243458"/>
            </a:solidFill>
          </p:spPr>
        </p:sp>
        <p:sp>
          <p:nvSpPr>
            <p:cNvPr id="18" name="TextBox 18"/>
            <p:cNvSpPr txBox="1"/>
            <p:nvPr/>
          </p:nvSpPr>
          <p:spPr>
            <a:xfrm>
              <a:off x="0" y="-57150"/>
              <a:ext cx="1484720" cy="463550"/>
            </a:xfrm>
            <a:prstGeom prst="rect">
              <a:avLst/>
            </a:prstGeom>
          </p:spPr>
          <p:txBody>
            <a:bodyPr lIns="50800" tIns="50800" rIns="50800" bIns="50800" rtlCol="0" anchor="ctr"/>
            <a:lstStyle/>
            <a:p>
              <a:pPr algn="ctr">
                <a:lnSpc>
                  <a:spcPts val="3220"/>
                </a:lnSpc>
              </a:pPr>
              <a:endParaRPr/>
            </a:p>
          </p:txBody>
        </p:sp>
      </p:grpSp>
      <p:sp>
        <p:nvSpPr>
          <p:cNvPr id="19" name="TextBox 19"/>
          <p:cNvSpPr txBox="1"/>
          <p:nvPr/>
        </p:nvSpPr>
        <p:spPr>
          <a:xfrm>
            <a:off x="4329538" y="6782136"/>
            <a:ext cx="1254251" cy="424815"/>
          </a:xfrm>
          <a:prstGeom prst="rect">
            <a:avLst/>
          </a:prstGeom>
        </p:spPr>
        <p:txBody>
          <a:bodyPr lIns="0" tIns="0" rIns="0" bIns="0" rtlCol="0" anchor="t">
            <a:spAutoFit/>
          </a:bodyPr>
          <a:lstStyle/>
          <a:p>
            <a:pPr algn="ctr">
              <a:lnSpc>
                <a:spcPts val="3359"/>
              </a:lnSpc>
              <a:spcBef>
                <a:spcPct val="0"/>
              </a:spcBef>
            </a:pPr>
            <a:r>
              <a:rPr lang="en-US" sz="2400" b="1">
                <a:solidFill>
                  <a:srgbClr val="FFFFFF"/>
                </a:solidFill>
                <a:latin typeface="Poppins Bold"/>
                <a:ea typeface="Poppins Bold"/>
                <a:cs typeface="Poppins Bold"/>
                <a:sym typeface="Poppins Bold"/>
              </a:rPr>
              <a:t>Q1–Q2</a:t>
            </a:r>
          </a:p>
        </p:txBody>
      </p:sp>
      <p:sp>
        <p:nvSpPr>
          <p:cNvPr id="20" name="TextBox 20"/>
          <p:cNvSpPr txBox="1"/>
          <p:nvPr/>
        </p:nvSpPr>
        <p:spPr>
          <a:xfrm>
            <a:off x="8661819" y="6782136"/>
            <a:ext cx="964362" cy="424815"/>
          </a:xfrm>
          <a:prstGeom prst="rect">
            <a:avLst/>
          </a:prstGeom>
        </p:spPr>
        <p:txBody>
          <a:bodyPr lIns="0" tIns="0" rIns="0" bIns="0" rtlCol="0" anchor="t">
            <a:spAutoFit/>
          </a:bodyPr>
          <a:lstStyle/>
          <a:p>
            <a:pPr algn="ctr">
              <a:lnSpc>
                <a:spcPts val="3359"/>
              </a:lnSpc>
              <a:spcBef>
                <a:spcPct val="0"/>
              </a:spcBef>
            </a:pPr>
            <a:r>
              <a:rPr lang="en-US" sz="2400" b="1" dirty="0">
                <a:solidFill>
                  <a:srgbClr val="FFFFFF"/>
                </a:solidFill>
                <a:latin typeface="Poppins Bold"/>
                <a:ea typeface="Poppins Bold"/>
                <a:cs typeface="Poppins Bold"/>
                <a:sym typeface="Poppins Bold"/>
              </a:rPr>
              <a:t>2</a:t>
            </a:r>
          </a:p>
        </p:txBody>
      </p:sp>
      <p:sp>
        <p:nvSpPr>
          <p:cNvPr id="21" name="TextBox 21"/>
          <p:cNvSpPr txBox="1"/>
          <p:nvPr/>
        </p:nvSpPr>
        <p:spPr>
          <a:xfrm>
            <a:off x="12826825" y="6782136"/>
            <a:ext cx="1009022" cy="424815"/>
          </a:xfrm>
          <a:prstGeom prst="rect">
            <a:avLst/>
          </a:prstGeom>
        </p:spPr>
        <p:txBody>
          <a:bodyPr lIns="0" tIns="0" rIns="0" bIns="0" rtlCol="0" anchor="t">
            <a:spAutoFit/>
          </a:bodyPr>
          <a:lstStyle/>
          <a:p>
            <a:pPr algn="ctr">
              <a:lnSpc>
                <a:spcPts val="3359"/>
              </a:lnSpc>
              <a:spcBef>
                <a:spcPct val="0"/>
              </a:spcBef>
            </a:pPr>
            <a:r>
              <a:rPr lang="en-US" sz="2400" b="1" dirty="0">
                <a:solidFill>
                  <a:srgbClr val="FFFFFF"/>
                </a:solidFill>
                <a:latin typeface="Poppins Bold"/>
                <a:ea typeface="Poppins Bold"/>
                <a:cs typeface="Poppins Bold"/>
                <a:sym typeface="Poppins Bold"/>
              </a:rPr>
              <a:t>3</a:t>
            </a:r>
          </a:p>
        </p:txBody>
      </p:sp>
      <p:sp>
        <p:nvSpPr>
          <p:cNvPr id="22" name="TextBox 22"/>
          <p:cNvSpPr txBox="1"/>
          <p:nvPr/>
        </p:nvSpPr>
        <p:spPr>
          <a:xfrm>
            <a:off x="2845848" y="2153812"/>
            <a:ext cx="12596303" cy="1276350"/>
          </a:xfrm>
          <a:prstGeom prst="rect">
            <a:avLst/>
          </a:prstGeom>
        </p:spPr>
        <p:txBody>
          <a:bodyPr lIns="0" tIns="0" rIns="0" bIns="0" rtlCol="0" anchor="t">
            <a:spAutoFit/>
          </a:bodyPr>
          <a:lstStyle/>
          <a:p>
            <a:pPr marL="0" lvl="0" indent="0" algn="ctr">
              <a:lnSpc>
                <a:spcPts val="8249"/>
              </a:lnSpc>
              <a:spcBef>
                <a:spcPct val="0"/>
              </a:spcBef>
            </a:pPr>
            <a:r>
              <a:rPr lang="en-US" sz="7499" b="1" dirty="0">
                <a:solidFill>
                  <a:srgbClr val="243458"/>
                </a:solidFill>
                <a:latin typeface="Agrandir Bold"/>
                <a:ea typeface="Agrandir Bold"/>
                <a:cs typeface="Agrandir Bold"/>
                <a:sym typeface="Agrandir Bold"/>
              </a:rPr>
              <a:t>R</a:t>
            </a:r>
            <a:r>
              <a:rPr lang="en-US" sz="7499" b="1" u="none" strike="noStrike" dirty="0">
                <a:solidFill>
                  <a:srgbClr val="243458"/>
                </a:solidFill>
                <a:latin typeface="Agrandir Bold"/>
                <a:ea typeface="Agrandir Bold"/>
                <a:cs typeface="Agrandir Bold"/>
                <a:sym typeface="Agrandir Bold"/>
              </a:rPr>
              <a:t>oadmap</a:t>
            </a:r>
          </a:p>
        </p:txBody>
      </p:sp>
      <p:sp>
        <p:nvSpPr>
          <p:cNvPr id="23" name="TextBox 23"/>
          <p:cNvSpPr txBox="1"/>
          <p:nvPr/>
        </p:nvSpPr>
        <p:spPr>
          <a:xfrm>
            <a:off x="3267746" y="7349451"/>
            <a:ext cx="3842836" cy="1776448"/>
          </a:xfrm>
          <a:prstGeom prst="rect">
            <a:avLst/>
          </a:prstGeom>
        </p:spPr>
        <p:txBody>
          <a:bodyPr wrap="square" lIns="0" tIns="0" rIns="0" bIns="0" rtlCol="0" anchor="t">
            <a:spAutoFit/>
          </a:bodyPr>
          <a:lstStyle/>
          <a:p>
            <a:pPr algn="ctr">
              <a:lnSpc>
                <a:spcPts val="2799"/>
              </a:lnSpc>
            </a:pPr>
            <a:r>
              <a:rPr lang="en-US" sz="2000" b="1" dirty="0" err="1"/>
              <a:t>Analyse</a:t>
            </a:r>
            <a:r>
              <a:rPr lang="en-US" sz="2000" b="1" dirty="0"/>
              <a:t> Yearly Trends</a:t>
            </a:r>
            <a:br>
              <a:rPr lang="en-US" sz="2000" dirty="0"/>
            </a:br>
            <a:r>
              <a:rPr lang="en-US" sz="2000" dirty="0"/>
              <a:t>Study the quantity of goods across all years to identify rising demand patterns and adjust inventory planning accordingly.</a:t>
            </a:r>
            <a:endParaRPr lang="en-US" sz="1999" dirty="0">
              <a:solidFill>
                <a:srgbClr val="243458"/>
              </a:solidFill>
              <a:latin typeface="Poppins"/>
              <a:ea typeface="Poppins"/>
              <a:cs typeface="Poppins"/>
              <a:sym typeface="Poppins"/>
            </a:endParaRPr>
          </a:p>
        </p:txBody>
      </p:sp>
      <p:sp>
        <p:nvSpPr>
          <p:cNvPr id="24" name="TextBox 24"/>
          <p:cNvSpPr txBox="1"/>
          <p:nvPr/>
        </p:nvSpPr>
        <p:spPr>
          <a:xfrm>
            <a:off x="7173599" y="7373531"/>
            <a:ext cx="3842836" cy="1776448"/>
          </a:xfrm>
          <a:prstGeom prst="rect">
            <a:avLst/>
          </a:prstGeom>
        </p:spPr>
        <p:txBody>
          <a:bodyPr wrap="square" lIns="0" tIns="0" rIns="0" bIns="0" rtlCol="0" anchor="t">
            <a:spAutoFit/>
          </a:bodyPr>
          <a:lstStyle/>
          <a:p>
            <a:pPr algn="ctr">
              <a:lnSpc>
                <a:spcPts val="2799"/>
              </a:lnSpc>
            </a:pPr>
            <a:r>
              <a:rPr lang="en-US" sz="2000" b="1"/>
              <a:t>Optimize Stock Management</a:t>
            </a:r>
            <a:br>
              <a:rPr lang="en-US" sz="2000"/>
            </a:br>
            <a:r>
              <a:rPr lang="en-US" sz="2000"/>
              <a:t>Focus on high-demand years like 2023 and 2024 to ensure sufficient supply and avoid stockouts during peak periods.</a:t>
            </a:r>
            <a:endParaRPr lang="en-US" sz="1999" dirty="0">
              <a:solidFill>
                <a:srgbClr val="243458"/>
              </a:solidFill>
              <a:latin typeface="Poppins"/>
              <a:ea typeface="Poppins"/>
              <a:cs typeface="Poppins"/>
              <a:sym typeface="Poppins"/>
            </a:endParaRPr>
          </a:p>
        </p:txBody>
      </p:sp>
      <p:sp>
        <p:nvSpPr>
          <p:cNvPr id="25" name="TextBox 25"/>
          <p:cNvSpPr txBox="1"/>
          <p:nvPr/>
        </p:nvSpPr>
        <p:spPr>
          <a:xfrm>
            <a:off x="11704323" y="7373531"/>
            <a:ext cx="3842836" cy="1846659"/>
          </a:xfrm>
          <a:prstGeom prst="rect">
            <a:avLst/>
          </a:prstGeom>
        </p:spPr>
        <p:txBody>
          <a:bodyPr wrap="square" lIns="0" tIns="0" rIns="0" bIns="0" rtlCol="0" anchor="t">
            <a:spAutoFit/>
          </a:bodyPr>
          <a:lstStyle/>
          <a:p>
            <a:r>
              <a:rPr lang="en-US" sz="2000" b="1"/>
              <a:t>Plan Future Growth Strategies</a:t>
            </a:r>
            <a:br>
              <a:rPr lang="en-US" sz="2000"/>
            </a:br>
            <a:r>
              <a:rPr lang="en-US" sz="2000"/>
              <a:t>Use multi-year data insights to improve purchasing, enhance customer experience, and implement strategies that support continuous mall growth.</a:t>
            </a:r>
          </a:p>
        </p:txBody>
      </p:sp>
      <p:sp>
        <p:nvSpPr>
          <p:cNvPr id="26" name="Freeform 26"/>
          <p:cNvSpPr/>
          <p:nvPr/>
        </p:nvSpPr>
        <p:spPr>
          <a:xfrm rot="-5400000">
            <a:off x="-2109469" y="4316898"/>
            <a:ext cx="4218937" cy="1065282"/>
          </a:xfrm>
          <a:custGeom>
            <a:avLst/>
            <a:gdLst/>
            <a:ahLst/>
            <a:cxnLst/>
            <a:rect l="l" t="t" r="r" b="b"/>
            <a:pathLst>
              <a:path w="4218937" h="1065282">
                <a:moveTo>
                  <a:pt x="0" y="0"/>
                </a:moveTo>
                <a:lnTo>
                  <a:pt x="4218938" y="0"/>
                </a:lnTo>
                <a:lnTo>
                  <a:pt x="4218938" y="1065282"/>
                </a:lnTo>
                <a:lnTo>
                  <a:pt x="0" y="10652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7" name="Freeform 27"/>
          <p:cNvSpPr/>
          <p:nvPr/>
        </p:nvSpPr>
        <p:spPr>
          <a:xfrm rot="-5400000">
            <a:off x="16179899" y="4316898"/>
            <a:ext cx="4218937" cy="1065282"/>
          </a:xfrm>
          <a:custGeom>
            <a:avLst/>
            <a:gdLst/>
            <a:ahLst/>
            <a:cxnLst/>
            <a:rect l="l" t="t" r="r" b="b"/>
            <a:pathLst>
              <a:path w="4218937" h="1065282">
                <a:moveTo>
                  <a:pt x="0" y="0"/>
                </a:moveTo>
                <a:lnTo>
                  <a:pt x="4218937" y="0"/>
                </a:lnTo>
                <a:lnTo>
                  <a:pt x="4218937" y="1065282"/>
                </a:lnTo>
                <a:lnTo>
                  <a:pt x="0" y="10652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8" name="Freeform 28"/>
          <p:cNvSpPr/>
          <p:nvPr/>
        </p:nvSpPr>
        <p:spPr>
          <a:xfrm>
            <a:off x="1450811" y="-1875989"/>
            <a:ext cx="2760177" cy="2904689"/>
          </a:xfrm>
          <a:custGeom>
            <a:avLst/>
            <a:gdLst/>
            <a:ahLst/>
            <a:cxnLst/>
            <a:rect l="l" t="t" r="r" b="b"/>
            <a:pathLst>
              <a:path w="2760177" h="2904689">
                <a:moveTo>
                  <a:pt x="0" y="0"/>
                </a:moveTo>
                <a:lnTo>
                  <a:pt x="2760177" y="0"/>
                </a:lnTo>
                <a:lnTo>
                  <a:pt x="2760177" y="2904689"/>
                </a:lnTo>
                <a:lnTo>
                  <a:pt x="0" y="29046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9" name="Freeform 29"/>
          <p:cNvSpPr/>
          <p:nvPr/>
        </p:nvSpPr>
        <p:spPr>
          <a:xfrm>
            <a:off x="16376638" y="9258300"/>
            <a:ext cx="2760177" cy="2904689"/>
          </a:xfrm>
          <a:custGeom>
            <a:avLst/>
            <a:gdLst/>
            <a:ahLst/>
            <a:cxnLst/>
            <a:rect l="l" t="t" r="r" b="b"/>
            <a:pathLst>
              <a:path w="2760177" h="2904689">
                <a:moveTo>
                  <a:pt x="0" y="0"/>
                </a:moveTo>
                <a:lnTo>
                  <a:pt x="2760177" y="0"/>
                </a:lnTo>
                <a:lnTo>
                  <a:pt x="2760177" y="2904689"/>
                </a:lnTo>
                <a:lnTo>
                  <a:pt x="0" y="29046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0" name="Freeform 30"/>
          <p:cNvSpPr/>
          <p:nvPr/>
        </p:nvSpPr>
        <p:spPr>
          <a:xfrm rot="940074" flipV="1">
            <a:off x="13087987" y="-1435233"/>
            <a:ext cx="3830266" cy="4114800"/>
          </a:xfrm>
          <a:custGeom>
            <a:avLst/>
            <a:gdLst/>
            <a:ahLst/>
            <a:cxnLst/>
            <a:rect l="l" t="t" r="r" b="b"/>
            <a:pathLst>
              <a:path w="3830266" h="4114800">
                <a:moveTo>
                  <a:pt x="0" y="4114800"/>
                </a:moveTo>
                <a:lnTo>
                  <a:pt x="3830266" y="4114800"/>
                </a:lnTo>
                <a:lnTo>
                  <a:pt x="3830266" y="0"/>
                </a:lnTo>
                <a:lnTo>
                  <a:pt x="0" y="0"/>
                </a:lnTo>
                <a:lnTo>
                  <a:pt x="0" y="411480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1" name="Freeform 31"/>
          <p:cNvSpPr/>
          <p:nvPr/>
        </p:nvSpPr>
        <p:spPr>
          <a:xfrm rot="-9725357" flipV="1">
            <a:off x="-464322" y="8229600"/>
            <a:ext cx="3830266" cy="4114800"/>
          </a:xfrm>
          <a:custGeom>
            <a:avLst/>
            <a:gdLst/>
            <a:ahLst/>
            <a:cxnLst/>
            <a:rect l="l" t="t" r="r" b="b"/>
            <a:pathLst>
              <a:path w="3830266" h="4114800">
                <a:moveTo>
                  <a:pt x="0" y="4114800"/>
                </a:moveTo>
                <a:lnTo>
                  <a:pt x="3830266" y="4114800"/>
                </a:lnTo>
                <a:lnTo>
                  <a:pt x="3830266" y="0"/>
                </a:lnTo>
                <a:lnTo>
                  <a:pt x="0" y="0"/>
                </a:lnTo>
                <a:lnTo>
                  <a:pt x="0" y="411480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33" name="Group 13">
            <a:extLst>
              <a:ext uri="{FF2B5EF4-FFF2-40B4-BE49-F238E27FC236}">
                <a16:creationId xmlns:a16="http://schemas.microsoft.com/office/drawing/2014/main" id="{11C783B7-90C9-0806-E6F8-CF5D41A29882}"/>
              </a:ext>
            </a:extLst>
          </p:cNvPr>
          <p:cNvGrpSpPr/>
          <p:nvPr/>
        </p:nvGrpSpPr>
        <p:grpSpPr>
          <a:xfrm>
            <a:off x="4234479" y="6817295"/>
            <a:ext cx="1538677" cy="421169"/>
            <a:chOff x="0" y="0"/>
            <a:chExt cx="1484720" cy="406400"/>
          </a:xfrm>
        </p:grpSpPr>
        <p:sp>
          <p:nvSpPr>
            <p:cNvPr id="34" name="Freeform 14">
              <a:extLst>
                <a:ext uri="{FF2B5EF4-FFF2-40B4-BE49-F238E27FC236}">
                  <a16:creationId xmlns:a16="http://schemas.microsoft.com/office/drawing/2014/main" id="{A64EE7FE-3810-A2A8-C571-D8FC7BB38D0F}"/>
                </a:ext>
              </a:extLst>
            </p:cNvPr>
            <p:cNvSpPr/>
            <p:nvPr/>
          </p:nvSpPr>
          <p:spPr>
            <a:xfrm>
              <a:off x="0" y="0"/>
              <a:ext cx="1484720" cy="406400"/>
            </a:xfrm>
            <a:custGeom>
              <a:avLst/>
              <a:gdLst/>
              <a:ahLst/>
              <a:cxnLst/>
              <a:rect l="l" t="t" r="r" b="b"/>
              <a:pathLst>
                <a:path w="1484720" h="406400">
                  <a:moveTo>
                    <a:pt x="1281520" y="0"/>
                  </a:moveTo>
                  <a:cubicBezTo>
                    <a:pt x="1393744" y="0"/>
                    <a:pt x="1484720" y="90976"/>
                    <a:pt x="1484720" y="203200"/>
                  </a:cubicBezTo>
                  <a:cubicBezTo>
                    <a:pt x="1484720" y="315424"/>
                    <a:pt x="1393744" y="406400"/>
                    <a:pt x="1281520" y="406400"/>
                  </a:cubicBezTo>
                  <a:lnTo>
                    <a:pt x="203200" y="406400"/>
                  </a:lnTo>
                  <a:cubicBezTo>
                    <a:pt x="90976" y="406400"/>
                    <a:pt x="0" y="315424"/>
                    <a:pt x="0" y="203200"/>
                  </a:cubicBezTo>
                  <a:cubicBezTo>
                    <a:pt x="0" y="90976"/>
                    <a:pt x="90976" y="0"/>
                    <a:pt x="203200" y="0"/>
                  </a:cubicBezTo>
                  <a:close/>
                </a:path>
              </a:pathLst>
            </a:custGeom>
            <a:solidFill>
              <a:srgbClr val="243458"/>
            </a:solidFill>
          </p:spPr>
        </p:sp>
        <p:sp>
          <p:nvSpPr>
            <p:cNvPr id="35" name="TextBox 15">
              <a:extLst>
                <a:ext uri="{FF2B5EF4-FFF2-40B4-BE49-F238E27FC236}">
                  <a16:creationId xmlns:a16="http://schemas.microsoft.com/office/drawing/2014/main" id="{8D7D842D-5188-D98C-8941-75A90C128A9D}"/>
                </a:ext>
              </a:extLst>
            </p:cNvPr>
            <p:cNvSpPr txBox="1"/>
            <p:nvPr/>
          </p:nvSpPr>
          <p:spPr>
            <a:xfrm>
              <a:off x="0" y="-57150"/>
              <a:ext cx="1484720" cy="463550"/>
            </a:xfrm>
            <a:prstGeom prst="rect">
              <a:avLst/>
            </a:prstGeom>
          </p:spPr>
          <p:txBody>
            <a:bodyPr lIns="50800" tIns="50800" rIns="50800" bIns="50800" rtlCol="0" anchor="ctr"/>
            <a:lstStyle/>
            <a:p>
              <a:pPr algn="ctr">
                <a:lnSpc>
                  <a:spcPts val="3220"/>
                </a:lnSpc>
              </a:pPr>
              <a:endParaRPr/>
            </a:p>
          </p:txBody>
        </p:sp>
      </p:grpSp>
      <p:sp>
        <p:nvSpPr>
          <p:cNvPr id="36" name="TextBox 20">
            <a:extLst>
              <a:ext uri="{FF2B5EF4-FFF2-40B4-BE49-F238E27FC236}">
                <a16:creationId xmlns:a16="http://schemas.microsoft.com/office/drawing/2014/main" id="{593BB922-C28D-487C-47F7-798963C65FD8}"/>
              </a:ext>
            </a:extLst>
          </p:cNvPr>
          <p:cNvSpPr txBox="1"/>
          <p:nvPr/>
        </p:nvSpPr>
        <p:spPr>
          <a:xfrm>
            <a:off x="4590264" y="6782136"/>
            <a:ext cx="964362" cy="424815"/>
          </a:xfrm>
          <a:prstGeom prst="rect">
            <a:avLst/>
          </a:prstGeom>
        </p:spPr>
        <p:txBody>
          <a:bodyPr lIns="0" tIns="0" rIns="0" bIns="0" rtlCol="0" anchor="t">
            <a:spAutoFit/>
          </a:bodyPr>
          <a:lstStyle/>
          <a:p>
            <a:pPr algn="ctr">
              <a:lnSpc>
                <a:spcPts val="3359"/>
              </a:lnSpc>
              <a:spcBef>
                <a:spcPct val="0"/>
              </a:spcBef>
            </a:pPr>
            <a:r>
              <a:rPr lang="en-US" sz="2400" b="1" dirty="0">
                <a:solidFill>
                  <a:srgbClr val="FFFFFF"/>
                </a:solidFill>
                <a:latin typeface="Poppins Bold"/>
                <a:ea typeface="Poppins Bold"/>
                <a:cs typeface="Poppins Bold"/>
                <a:sym typeface="Poppins Bold"/>
              </a:rPr>
              <a:t>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412" y="-1721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US" dirty="0"/>
          </a:p>
        </p:txBody>
      </p:sp>
      <p:grpSp>
        <p:nvGrpSpPr>
          <p:cNvPr id="3" name="Group 3"/>
          <p:cNvGrpSpPr/>
          <p:nvPr/>
        </p:nvGrpSpPr>
        <p:grpSpPr>
          <a:xfrm>
            <a:off x="7645825" y="4229100"/>
            <a:ext cx="10109533" cy="5379309"/>
            <a:chOff x="0" y="0"/>
            <a:chExt cx="2947694" cy="954700"/>
          </a:xfrm>
        </p:grpSpPr>
        <p:sp>
          <p:nvSpPr>
            <p:cNvPr id="4" name="Freeform 4"/>
            <p:cNvSpPr/>
            <p:nvPr/>
          </p:nvSpPr>
          <p:spPr>
            <a:xfrm>
              <a:off x="0" y="0"/>
              <a:ext cx="2947694" cy="954700"/>
            </a:xfrm>
            <a:custGeom>
              <a:avLst/>
              <a:gdLst/>
              <a:ahLst/>
              <a:cxnLst/>
              <a:rect l="l" t="t" r="r" b="b"/>
              <a:pathLst>
                <a:path w="2947694" h="954700">
                  <a:moveTo>
                    <a:pt x="35279" y="0"/>
                  </a:moveTo>
                  <a:lnTo>
                    <a:pt x="2912416" y="0"/>
                  </a:lnTo>
                  <a:cubicBezTo>
                    <a:pt x="2931900" y="0"/>
                    <a:pt x="2947694" y="15795"/>
                    <a:pt x="2947694" y="35279"/>
                  </a:cubicBezTo>
                  <a:lnTo>
                    <a:pt x="2947694" y="919421"/>
                  </a:lnTo>
                  <a:cubicBezTo>
                    <a:pt x="2947694" y="938905"/>
                    <a:pt x="2931900" y="954700"/>
                    <a:pt x="2912416" y="954700"/>
                  </a:cubicBezTo>
                  <a:lnTo>
                    <a:pt x="35279" y="954700"/>
                  </a:lnTo>
                  <a:cubicBezTo>
                    <a:pt x="15795" y="954700"/>
                    <a:pt x="0" y="938905"/>
                    <a:pt x="0" y="919421"/>
                  </a:cubicBezTo>
                  <a:lnTo>
                    <a:pt x="0" y="35279"/>
                  </a:lnTo>
                  <a:cubicBezTo>
                    <a:pt x="0" y="15795"/>
                    <a:pt x="15795" y="0"/>
                    <a:pt x="35279" y="0"/>
                  </a:cubicBezTo>
                  <a:close/>
                </a:path>
              </a:pathLst>
            </a:custGeom>
            <a:solidFill>
              <a:srgbClr val="243458"/>
            </a:solidFill>
          </p:spPr>
        </p:sp>
        <p:sp>
          <p:nvSpPr>
            <p:cNvPr id="5" name="TextBox 5"/>
            <p:cNvSpPr txBox="1"/>
            <p:nvPr/>
          </p:nvSpPr>
          <p:spPr>
            <a:xfrm>
              <a:off x="0" y="-57150"/>
              <a:ext cx="2947694" cy="1011850"/>
            </a:xfrm>
            <a:prstGeom prst="rect">
              <a:avLst/>
            </a:prstGeom>
          </p:spPr>
          <p:txBody>
            <a:bodyPr lIns="50800" tIns="50800" rIns="50800" bIns="50800" rtlCol="0" anchor="ctr"/>
            <a:lstStyle/>
            <a:p>
              <a:pPr algn="ctr">
                <a:lnSpc>
                  <a:spcPts val="3220"/>
                </a:lnSpc>
              </a:pPr>
              <a:endParaRPr/>
            </a:p>
          </p:txBody>
        </p:sp>
      </p:grpSp>
      <p:grpSp>
        <p:nvGrpSpPr>
          <p:cNvPr id="8" name="Group 8"/>
          <p:cNvGrpSpPr/>
          <p:nvPr/>
        </p:nvGrpSpPr>
        <p:grpSpPr>
          <a:xfrm>
            <a:off x="1300044" y="8658407"/>
            <a:ext cx="4976762" cy="950002"/>
            <a:chOff x="0" y="0"/>
            <a:chExt cx="894390" cy="170728"/>
          </a:xfrm>
        </p:grpSpPr>
        <p:sp>
          <p:nvSpPr>
            <p:cNvPr id="9" name="Freeform 9"/>
            <p:cNvSpPr/>
            <p:nvPr/>
          </p:nvSpPr>
          <p:spPr>
            <a:xfrm>
              <a:off x="0" y="0"/>
              <a:ext cx="894390" cy="170728"/>
            </a:xfrm>
            <a:custGeom>
              <a:avLst/>
              <a:gdLst/>
              <a:ahLst/>
              <a:cxnLst/>
              <a:rect l="l" t="t" r="r" b="b"/>
              <a:pathLst>
                <a:path w="894390" h="170728">
                  <a:moveTo>
                    <a:pt x="447195" y="0"/>
                  </a:moveTo>
                  <a:cubicBezTo>
                    <a:pt x="200216" y="0"/>
                    <a:pt x="0" y="38219"/>
                    <a:pt x="0" y="85364"/>
                  </a:cubicBezTo>
                  <a:cubicBezTo>
                    <a:pt x="0" y="132509"/>
                    <a:pt x="200216" y="170728"/>
                    <a:pt x="447195" y="170728"/>
                  </a:cubicBezTo>
                  <a:cubicBezTo>
                    <a:pt x="694174" y="170728"/>
                    <a:pt x="894390" y="132509"/>
                    <a:pt x="894390" y="85364"/>
                  </a:cubicBezTo>
                  <a:cubicBezTo>
                    <a:pt x="894390" y="38219"/>
                    <a:pt x="694174" y="0"/>
                    <a:pt x="447195" y="0"/>
                  </a:cubicBezTo>
                  <a:close/>
                </a:path>
              </a:pathLst>
            </a:custGeom>
            <a:solidFill>
              <a:srgbClr val="DEDEDE"/>
            </a:solidFill>
          </p:spPr>
        </p:sp>
        <p:sp>
          <p:nvSpPr>
            <p:cNvPr id="10" name="TextBox 10"/>
            <p:cNvSpPr txBox="1"/>
            <p:nvPr/>
          </p:nvSpPr>
          <p:spPr>
            <a:xfrm>
              <a:off x="83849" y="-41144"/>
              <a:ext cx="726692" cy="195866"/>
            </a:xfrm>
            <a:prstGeom prst="rect">
              <a:avLst/>
            </a:prstGeom>
          </p:spPr>
          <p:txBody>
            <a:bodyPr lIns="50800" tIns="50800" rIns="50800" bIns="50800" rtlCol="0" anchor="ctr"/>
            <a:lstStyle/>
            <a:p>
              <a:pPr algn="ctr">
                <a:lnSpc>
                  <a:spcPts val="3220"/>
                </a:lnSpc>
              </a:pPr>
              <a:endParaRPr/>
            </a:p>
          </p:txBody>
        </p:sp>
      </p:grpSp>
      <p:sp>
        <p:nvSpPr>
          <p:cNvPr id="11" name="Freeform 11"/>
          <p:cNvSpPr/>
          <p:nvPr/>
        </p:nvSpPr>
        <p:spPr>
          <a:xfrm>
            <a:off x="1813019" y="4692822"/>
            <a:ext cx="4930358" cy="4565478"/>
          </a:xfrm>
          <a:custGeom>
            <a:avLst/>
            <a:gdLst/>
            <a:ahLst/>
            <a:cxnLst/>
            <a:rect l="l" t="t" r="r" b="b"/>
            <a:pathLst>
              <a:path w="4463787" h="4114800">
                <a:moveTo>
                  <a:pt x="0" y="0"/>
                </a:moveTo>
                <a:lnTo>
                  <a:pt x="4463787" y="0"/>
                </a:lnTo>
                <a:lnTo>
                  <a:pt x="4463787"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rot="20501560" flipV="1">
            <a:off x="7258467" y="1109692"/>
            <a:ext cx="3399284" cy="4061247"/>
          </a:xfrm>
          <a:custGeom>
            <a:avLst/>
            <a:gdLst/>
            <a:ahLst/>
            <a:cxnLst/>
            <a:rect l="l" t="t" r="r" b="b"/>
            <a:pathLst>
              <a:path w="4545874" h="4114800">
                <a:moveTo>
                  <a:pt x="0" y="4114800"/>
                </a:moveTo>
                <a:lnTo>
                  <a:pt x="4545875" y="4114800"/>
                </a:lnTo>
                <a:lnTo>
                  <a:pt x="4545875" y="0"/>
                </a:lnTo>
                <a:lnTo>
                  <a:pt x="0" y="0"/>
                </a:lnTo>
                <a:lnTo>
                  <a:pt x="0" y="411480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TextBox 13"/>
          <p:cNvSpPr txBox="1"/>
          <p:nvPr/>
        </p:nvSpPr>
        <p:spPr>
          <a:xfrm>
            <a:off x="1813018" y="1372666"/>
            <a:ext cx="4976761" cy="888320"/>
          </a:xfrm>
          <a:prstGeom prst="rect">
            <a:avLst/>
          </a:prstGeom>
        </p:spPr>
        <p:txBody>
          <a:bodyPr wrap="square" lIns="0" tIns="0" rIns="0" bIns="0" rtlCol="0" anchor="t">
            <a:spAutoFit/>
          </a:bodyPr>
          <a:lstStyle/>
          <a:p>
            <a:pPr algn="l">
              <a:lnSpc>
                <a:spcPts val="6800"/>
              </a:lnSpc>
            </a:pPr>
            <a:r>
              <a:rPr lang="en-US" sz="6800" b="1" dirty="0">
                <a:solidFill>
                  <a:srgbClr val="243458"/>
                </a:solidFill>
                <a:latin typeface="Agrandir Bold"/>
                <a:ea typeface="Agrandir Bold"/>
                <a:cs typeface="Agrandir Bold"/>
                <a:sym typeface="Agrandir Bold"/>
              </a:rPr>
              <a:t>Conclusion</a:t>
            </a:r>
          </a:p>
        </p:txBody>
      </p:sp>
      <p:sp>
        <p:nvSpPr>
          <p:cNvPr id="14" name="TextBox 14"/>
          <p:cNvSpPr txBox="1"/>
          <p:nvPr/>
        </p:nvSpPr>
        <p:spPr>
          <a:xfrm>
            <a:off x="8584746" y="4826317"/>
            <a:ext cx="8728588" cy="4431983"/>
          </a:xfrm>
          <a:prstGeom prst="rect">
            <a:avLst/>
          </a:prstGeom>
        </p:spPr>
        <p:txBody>
          <a:bodyPr wrap="square" lIns="0" tIns="0" rIns="0" bIns="0" rtlCol="0" anchor="t">
            <a:spAutoFit/>
          </a:bodyPr>
          <a:lstStyle/>
          <a:p>
            <a:pPr lvl="0"/>
            <a:r>
              <a:rPr lang="en-US" sz="3200" dirty="0">
                <a:solidFill>
                  <a:schemeClr val="bg1"/>
                </a:solidFill>
              </a:rPr>
              <a:t>In conclusion, the analysis provides clear insights into the mall’s overall performance, highlighting growth in revenue, shifting product demand, and strong category-wise sales contributions. The yearly, segment, and subcategory trends reveal opportunities for strategic improvement. These findings support informed decision-making, optimized inventory planning, and a focused roadmap for future business expansion.</a:t>
            </a:r>
            <a:endParaRPr lang="en-US" sz="3200" dirty="0">
              <a:solidFill>
                <a:schemeClr val="bg1"/>
              </a:solidFill>
              <a:latin typeface="Poppins"/>
              <a:ea typeface="Poppins"/>
              <a:cs typeface="Poppins"/>
              <a:sym typeface="Poppins"/>
            </a:endParaRPr>
          </a:p>
        </p:txBody>
      </p:sp>
      <p:grpSp>
        <p:nvGrpSpPr>
          <p:cNvPr id="15" name="Group 15"/>
          <p:cNvGrpSpPr/>
          <p:nvPr/>
        </p:nvGrpSpPr>
        <p:grpSpPr>
          <a:xfrm>
            <a:off x="-514350" y="1982918"/>
            <a:ext cx="1543050" cy="781016"/>
            <a:chOff x="0" y="0"/>
            <a:chExt cx="406400" cy="205700"/>
          </a:xfrm>
        </p:grpSpPr>
        <p:sp>
          <p:nvSpPr>
            <p:cNvPr id="16" name="Freeform 16"/>
            <p:cNvSpPr/>
            <p:nvPr/>
          </p:nvSpPr>
          <p:spPr>
            <a:xfrm>
              <a:off x="0" y="0"/>
              <a:ext cx="406400" cy="205700"/>
            </a:xfrm>
            <a:custGeom>
              <a:avLst/>
              <a:gdLst/>
              <a:ahLst/>
              <a:cxnLst/>
              <a:rect l="l" t="t" r="r" b="b"/>
              <a:pathLst>
                <a:path w="406400" h="205700">
                  <a:moveTo>
                    <a:pt x="0" y="0"/>
                  </a:moveTo>
                  <a:lnTo>
                    <a:pt x="406400" y="0"/>
                  </a:lnTo>
                  <a:lnTo>
                    <a:pt x="406400" y="205700"/>
                  </a:lnTo>
                  <a:lnTo>
                    <a:pt x="0" y="205700"/>
                  </a:lnTo>
                  <a:close/>
                </a:path>
              </a:pathLst>
            </a:custGeom>
            <a:solidFill>
              <a:srgbClr val="243458"/>
            </a:solidFill>
          </p:spPr>
        </p:sp>
        <p:sp>
          <p:nvSpPr>
            <p:cNvPr id="17" name="TextBox 17"/>
            <p:cNvSpPr txBox="1"/>
            <p:nvPr/>
          </p:nvSpPr>
          <p:spPr>
            <a:xfrm>
              <a:off x="0" y="-57150"/>
              <a:ext cx="406400" cy="262850"/>
            </a:xfrm>
            <a:prstGeom prst="rect">
              <a:avLst/>
            </a:prstGeom>
          </p:spPr>
          <p:txBody>
            <a:bodyPr lIns="50800" tIns="50800" rIns="50800" bIns="50800" rtlCol="0" anchor="ctr"/>
            <a:lstStyle/>
            <a:p>
              <a:pPr algn="ctr">
                <a:lnSpc>
                  <a:spcPts val="3220"/>
                </a:lnSpc>
              </a:pPr>
              <a:endParaRPr/>
            </a:p>
          </p:txBody>
        </p:sp>
      </p:grpSp>
      <p:sp>
        <p:nvSpPr>
          <p:cNvPr id="18" name="Freeform 18"/>
          <p:cNvSpPr/>
          <p:nvPr/>
        </p:nvSpPr>
        <p:spPr>
          <a:xfrm rot="-5400000">
            <a:off x="16178531" y="2501391"/>
            <a:ext cx="4218937" cy="1065282"/>
          </a:xfrm>
          <a:custGeom>
            <a:avLst/>
            <a:gdLst/>
            <a:ahLst/>
            <a:cxnLst/>
            <a:rect l="l" t="t" r="r" b="b"/>
            <a:pathLst>
              <a:path w="4218937" h="1065282">
                <a:moveTo>
                  <a:pt x="0" y="0"/>
                </a:moveTo>
                <a:lnTo>
                  <a:pt x="4218938" y="0"/>
                </a:lnTo>
                <a:lnTo>
                  <a:pt x="4218938" y="1065281"/>
                </a:lnTo>
                <a:lnTo>
                  <a:pt x="0" y="106528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7016B-13A9-4A24-35CC-66B47380FA8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11FAAC7-069A-C143-65E6-676F98CD63FB}"/>
              </a:ext>
            </a:extLst>
          </p:cNvPr>
          <p:cNvSpPr/>
          <p:nvPr/>
        </p:nvSpPr>
        <p:spPr>
          <a:xfrm>
            <a:off x="34412" y="-1721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txBody>
          <a:bodyPr/>
          <a:lstStyle/>
          <a:p>
            <a:endParaRPr lang="en-US" dirty="0"/>
          </a:p>
        </p:txBody>
      </p:sp>
      <p:sp>
        <p:nvSpPr>
          <p:cNvPr id="12" name="Freeform 12">
            <a:extLst>
              <a:ext uri="{FF2B5EF4-FFF2-40B4-BE49-F238E27FC236}">
                <a16:creationId xmlns:a16="http://schemas.microsoft.com/office/drawing/2014/main" id="{3FFA37F1-22EF-D4FC-A983-DF975CFF9038}"/>
              </a:ext>
            </a:extLst>
          </p:cNvPr>
          <p:cNvSpPr/>
          <p:nvPr/>
        </p:nvSpPr>
        <p:spPr>
          <a:xfrm rot="20501560" flipV="1">
            <a:off x="5554122" y="223892"/>
            <a:ext cx="1214854" cy="704890"/>
          </a:xfrm>
          <a:custGeom>
            <a:avLst/>
            <a:gdLst/>
            <a:ahLst/>
            <a:cxnLst/>
            <a:rect l="l" t="t" r="r" b="b"/>
            <a:pathLst>
              <a:path w="4545874" h="4114800">
                <a:moveTo>
                  <a:pt x="0" y="4114800"/>
                </a:moveTo>
                <a:lnTo>
                  <a:pt x="4545875" y="4114800"/>
                </a:lnTo>
                <a:lnTo>
                  <a:pt x="4545875"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a:stretch>
          </a:blipFill>
          <a:ln w="28575">
            <a:noFill/>
          </a:ln>
        </p:spPr>
        <p:txBody>
          <a:bodyPr/>
          <a:lstStyle/>
          <a:p>
            <a:endParaRPr lang="en-US" dirty="0"/>
          </a:p>
        </p:txBody>
      </p:sp>
      <p:sp>
        <p:nvSpPr>
          <p:cNvPr id="13" name="TextBox 13">
            <a:extLst>
              <a:ext uri="{FF2B5EF4-FFF2-40B4-BE49-F238E27FC236}">
                <a16:creationId xmlns:a16="http://schemas.microsoft.com/office/drawing/2014/main" id="{25AE25AA-45C1-D240-21DC-9E0899304EC7}"/>
              </a:ext>
            </a:extLst>
          </p:cNvPr>
          <p:cNvSpPr txBox="1"/>
          <p:nvPr/>
        </p:nvSpPr>
        <p:spPr>
          <a:xfrm>
            <a:off x="609600" y="198555"/>
            <a:ext cx="4976761" cy="888320"/>
          </a:xfrm>
          <a:prstGeom prst="rect">
            <a:avLst/>
          </a:prstGeom>
        </p:spPr>
        <p:txBody>
          <a:bodyPr wrap="square" lIns="0" tIns="0" rIns="0" bIns="0" rtlCol="0" anchor="t">
            <a:spAutoFit/>
          </a:bodyPr>
          <a:lstStyle/>
          <a:p>
            <a:pPr algn="l">
              <a:lnSpc>
                <a:spcPts val="6800"/>
              </a:lnSpc>
            </a:pPr>
            <a:r>
              <a:rPr lang="en-US" sz="6800" b="1" dirty="0">
                <a:solidFill>
                  <a:srgbClr val="243458"/>
                </a:solidFill>
                <a:latin typeface="Agrandir Bold"/>
                <a:ea typeface="Agrandir Bold"/>
                <a:cs typeface="Agrandir Bold"/>
                <a:sym typeface="Agrandir Bold"/>
              </a:rPr>
              <a:t>Dashboard</a:t>
            </a:r>
          </a:p>
        </p:txBody>
      </p:sp>
      <p:sp>
        <p:nvSpPr>
          <p:cNvPr id="14" name="TextBox 14">
            <a:extLst>
              <a:ext uri="{FF2B5EF4-FFF2-40B4-BE49-F238E27FC236}">
                <a16:creationId xmlns:a16="http://schemas.microsoft.com/office/drawing/2014/main" id="{1B33D951-5E54-A57B-72BD-3F8E7AA7814F}"/>
              </a:ext>
            </a:extLst>
          </p:cNvPr>
          <p:cNvSpPr txBox="1"/>
          <p:nvPr/>
        </p:nvSpPr>
        <p:spPr>
          <a:xfrm>
            <a:off x="9329891" y="4692822"/>
            <a:ext cx="8728588" cy="4431983"/>
          </a:xfrm>
          <a:prstGeom prst="rect">
            <a:avLst/>
          </a:prstGeom>
        </p:spPr>
        <p:txBody>
          <a:bodyPr wrap="square" lIns="0" tIns="0" rIns="0" bIns="0" rtlCol="0" anchor="t">
            <a:spAutoFit/>
          </a:bodyPr>
          <a:lstStyle/>
          <a:p>
            <a:pPr lvl="0"/>
            <a:r>
              <a:rPr lang="en-US" sz="3200" dirty="0">
                <a:solidFill>
                  <a:schemeClr val="bg1"/>
                </a:solidFill>
              </a:rPr>
              <a:t>In conclusion, the analysis provides clear insights into the mall’s overall performance, highlighting growth in revenue, shifting product demand, and strong category-wise sales contributions. The yearly, segment, and subcategory trends reveal opportunities for strategic improvement. These findings support informed decision-making, optimized inventory planning, and a focused roadmap for future business expansion.</a:t>
            </a:r>
            <a:endParaRPr lang="en-US" sz="3200" dirty="0">
              <a:solidFill>
                <a:schemeClr val="bg1"/>
              </a:solidFill>
              <a:latin typeface="Poppins"/>
              <a:ea typeface="Poppins"/>
              <a:cs typeface="Poppins"/>
              <a:sym typeface="Poppins"/>
            </a:endParaRPr>
          </a:p>
        </p:txBody>
      </p:sp>
      <p:grpSp>
        <p:nvGrpSpPr>
          <p:cNvPr id="15" name="Group 15">
            <a:extLst>
              <a:ext uri="{FF2B5EF4-FFF2-40B4-BE49-F238E27FC236}">
                <a16:creationId xmlns:a16="http://schemas.microsoft.com/office/drawing/2014/main" id="{F1CA706B-5096-9751-63BB-A74453C56A8F}"/>
              </a:ext>
            </a:extLst>
          </p:cNvPr>
          <p:cNvGrpSpPr/>
          <p:nvPr/>
        </p:nvGrpSpPr>
        <p:grpSpPr>
          <a:xfrm>
            <a:off x="-409575" y="435687"/>
            <a:ext cx="819150" cy="288213"/>
            <a:chOff x="0" y="0"/>
            <a:chExt cx="406400" cy="205700"/>
          </a:xfrm>
        </p:grpSpPr>
        <p:sp>
          <p:nvSpPr>
            <p:cNvPr id="16" name="Freeform 16">
              <a:extLst>
                <a:ext uri="{FF2B5EF4-FFF2-40B4-BE49-F238E27FC236}">
                  <a16:creationId xmlns:a16="http://schemas.microsoft.com/office/drawing/2014/main" id="{AD4C412A-4C0A-ABDF-ABC3-FCAE893A23C9}"/>
                </a:ext>
              </a:extLst>
            </p:cNvPr>
            <p:cNvSpPr/>
            <p:nvPr/>
          </p:nvSpPr>
          <p:spPr>
            <a:xfrm>
              <a:off x="0" y="0"/>
              <a:ext cx="406400" cy="205700"/>
            </a:xfrm>
            <a:custGeom>
              <a:avLst/>
              <a:gdLst/>
              <a:ahLst/>
              <a:cxnLst/>
              <a:rect l="l" t="t" r="r" b="b"/>
              <a:pathLst>
                <a:path w="406400" h="205700">
                  <a:moveTo>
                    <a:pt x="0" y="0"/>
                  </a:moveTo>
                  <a:lnTo>
                    <a:pt x="406400" y="0"/>
                  </a:lnTo>
                  <a:lnTo>
                    <a:pt x="406400" y="205700"/>
                  </a:lnTo>
                  <a:lnTo>
                    <a:pt x="0" y="205700"/>
                  </a:lnTo>
                  <a:close/>
                </a:path>
              </a:pathLst>
            </a:custGeom>
            <a:solidFill>
              <a:srgbClr val="243458"/>
            </a:solidFill>
          </p:spPr>
        </p:sp>
        <p:sp>
          <p:nvSpPr>
            <p:cNvPr id="17" name="TextBox 17">
              <a:extLst>
                <a:ext uri="{FF2B5EF4-FFF2-40B4-BE49-F238E27FC236}">
                  <a16:creationId xmlns:a16="http://schemas.microsoft.com/office/drawing/2014/main" id="{B40F5809-9624-3584-89AF-6508A56E67A2}"/>
                </a:ext>
              </a:extLst>
            </p:cNvPr>
            <p:cNvSpPr txBox="1"/>
            <p:nvPr/>
          </p:nvSpPr>
          <p:spPr>
            <a:xfrm>
              <a:off x="0" y="-57150"/>
              <a:ext cx="406400" cy="262850"/>
            </a:xfrm>
            <a:prstGeom prst="rect">
              <a:avLst/>
            </a:prstGeom>
          </p:spPr>
          <p:txBody>
            <a:bodyPr lIns="50800" tIns="50800" rIns="50800" bIns="50800" rtlCol="0" anchor="ctr"/>
            <a:lstStyle/>
            <a:p>
              <a:pPr algn="ctr">
                <a:lnSpc>
                  <a:spcPts val="3220"/>
                </a:lnSpc>
              </a:pPr>
              <a:endParaRPr/>
            </a:p>
          </p:txBody>
        </p:sp>
      </p:grpSp>
      <p:sp>
        <p:nvSpPr>
          <p:cNvPr id="18" name="Freeform 18">
            <a:extLst>
              <a:ext uri="{FF2B5EF4-FFF2-40B4-BE49-F238E27FC236}">
                <a16:creationId xmlns:a16="http://schemas.microsoft.com/office/drawing/2014/main" id="{2F2811E0-0336-E1CB-63EB-FD27CA51C22D}"/>
              </a:ext>
            </a:extLst>
          </p:cNvPr>
          <p:cNvSpPr/>
          <p:nvPr/>
        </p:nvSpPr>
        <p:spPr>
          <a:xfrm rot="-5400000">
            <a:off x="16330091" y="2652950"/>
            <a:ext cx="4218937" cy="762161"/>
          </a:xfrm>
          <a:custGeom>
            <a:avLst/>
            <a:gdLst/>
            <a:ahLst/>
            <a:cxnLst/>
            <a:rect l="l" t="t" r="r" b="b"/>
            <a:pathLst>
              <a:path w="4218937" h="1065282">
                <a:moveTo>
                  <a:pt x="0" y="0"/>
                </a:moveTo>
                <a:lnTo>
                  <a:pt x="4218938" y="0"/>
                </a:lnTo>
                <a:lnTo>
                  <a:pt x="4218938" y="1065281"/>
                </a:lnTo>
                <a:lnTo>
                  <a:pt x="0" y="106528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pic>
        <p:nvPicPr>
          <p:cNvPr id="7" name="Picture 6">
            <a:extLst>
              <a:ext uri="{FF2B5EF4-FFF2-40B4-BE49-F238E27FC236}">
                <a16:creationId xmlns:a16="http://schemas.microsoft.com/office/drawing/2014/main" id="{62262E12-1A92-396B-C056-1EB2E12EA10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426823" y="1069654"/>
            <a:ext cx="17631656" cy="9153857"/>
          </a:xfrm>
          <a:prstGeom prst="rect">
            <a:avLst/>
          </a:prstGeom>
        </p:spPr>
      </p:pic>
    </p:spTree>
    <p:extLst>
      <p:ext uri="{BB962C8B-B14F-4D97-AF65-F5344CB8AC3E}">
        <p14:creationId xmlns:p14="http://schemas.microsoft.com/office/powerpoint/2010/main" val="856718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0090" y="-3940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2126440" y="2420227"/>
            <a:ext cx="6745177" cy="3719605"/>
            <a:chOff x="0" y="0"/>
            <a:chExt cx="913527" cy="503762"/>
          </a:xfrm>
        </p:grpSpPr>
        <p:sp>
          <p:nvSpPr>
            <p:cNvPr id="4" name="Freeform 4"/>
            <p:cNvSpPr/>
            <p:nvPr/>
          </p:nvSpPr>
          <p:spPr>
            <a:xfrm>
              <a:off x="0" y="0"/>
              <a:ext cx="913527" cy="503762"/>
            </a:xfrm>
            <a:custGeom>
              <a:avLst/>
              <a:gdLst/>
              <a:ahLst/>
              <a:cxnLst/>
              <a:rect l="l" t="t" r="r" b="b"/>
              <a:pathLst>
                <a:path w="913527" h="503762">
                  <a:moveTo>
                    <a:pt x="28694" y="0"/>
                  </a:moveTo>
                  <a:lnTo>
                    <a:pt x="884833" y="0"/>
                  </a:lnTo>
                  <a:cubicBezTo>
                    <a:pt x="892443" y="0"/>
                    <a:pt x="899742" y="3023"/>
                    <a:pt x="905123" y="8404"/>
                  </a:cubicBezTo>
                  <a:cubicBezTo>
                    <a:pt x="910504" y="13786"/>
                    <a:pt x="913527" y="21084"/>
                    <a:pt x="913527" y="28694"/>
                  </a:cubicBezTo>
                  <a:lnTo>
                    <a:pt x="913527" y="475067"/>
                  </a:lnTo>
                  <a:cubicBezTo>
                    <a:pt x="913527" y="482677"/>
                    <a:pt x="910504" y="489976"/>
                    <a:pt x="905123" y="495357"/>
                  </a:cubicBezTo>
                  <a:cubicBezTo>
                    <a:pt x="899742" y="500738"/>
                    <a:pt x="892443" y="503762"/>
                    <a:pt x="884833" y="503762"/>
                  </a:cubicBezTo>
                  <a:lnTo>
                    <a:pt x="28694" y="503762"/>
                  </a:lnTo>
                  <a:cubicBezTo>
                    <a:pt x="21084" y="503762"/>
                    <a:pt x="13786" y="500738"/>
                    <a:pt x="8404" y="495357"/>
                  </a:cubicBezTo>
                  <a:cubicBezTo>
                    <a:pt x="3023" y="489976"/>
                    <a:pt x="0" y="482677"/>
                    <a:pt x="0" y="475067"/>
                  </a:cubicBezTo>
                  <a:lnTo>
                    <a:pt x="0" y="28694"/>
                  </a:lnTo>
                  <a:cubicBezTo>
                    <a:pt x="0" y="21084"/>
                    <a:pt x="3023" y="13786"/>
                    <a:pt x="8404" y="8404"/>
                  </a:cubicBezTo>
                  <a:cubicBezTo>
                    <a:pt x="13786" y="3023"/>
                    <a:pt x="21084" y="0"/>
                    <a:pt x="28694" y="0"/>
                  </a:cubicBezTo>
                  <a:close/>
                </a:path>
              </a:pathLst>
            </a:custGeom>
            <a:blipFill>
              <a:blip r:embed="rId3"/>
              <a:stretch>
                <a:fillRect t="-1002" b="-1002"/>
              </a:stretch>
            </a:blipFill>
            <a:ln w="38100" cap="rnd">
              <a:solidFill>
                <a:srgbClr val="243458"/>
              </a:solidFill>
              <a:prstDash val="solid"/>
              <a:round/>
            </a:ln>
          </p:spPr>
        </p:sp>
      </p:grpSp>
      <p:sp>
        <p:nvSpPr>
          <p:cNvPr id="6" name="Freeform 6"/>
          <p:cNvSpPr/>
          <p:nvPr/>
        </p:nvSpPr>
        <p:spPr>
          <a:xfrm>
            <a:off x="2390683" y="7027876"/>
            <a:ext cx="493541" cy="249389"/>
          </a:xfrm>
          <a:custGeom>
            <a:avLst/>
            <a:gdLst/>
            <a:ahLst/>
            <a:cxnLst/>
            <a:rect l="l" t="t" r="r" b="b"/>
            <a:pathLst>
              <a:path w="421928" h="210964">
                <a:moveTo>
                  <a:pt x="0" y="0"/>
                </a:moveTo>
                <a:lnTo>
                  <a:pt x="421929" y="0"/>
                </a:lnTo>
                <a:lnTo>
                  <a:pt x="421929" y="210964"/>
                </a:lnTo>
                <a:lnTo>
                  <a:pt x="0" y="2109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7" name="Freeform 7"/>
          <p:cNvSpPr/>
          <p:nvPr/>
        </p:nvSpPr>
        <p:spPr>
          <a:xfrm>
            <a:off x="2536418" y="7656236"/>
            <a:ext cx="347806" cy="323652"/>
          </a:xfrm>
          <a:custGeom>
            <a:avLst/>
            <a:gdLst/>
            <a:ahLst/>
            <a:cxnLst/>
            <a:rect l="l" t="t" r="r" b="b"/>
            <a:pathLst>
              <a:path w="347806" h="323652">
                <a:moveTo>
                  <a:pt x="0" y="0"/>
                </a:moveTo>
                <a:lnTo>
                  <a:pt x="347805" y="0"/>
                </a:lnTo>
                <a:lnTo>
                  <a:pt x="347805" y="323652"/>
                </a:lnTo>
                <a:lnTo>
                  <a:pt x="0" y="32365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9563962" y="756627"/>
            <a:ext cx="7183614" cy="10227584"/>
            <a:chOff x="0" y="0"/>
            <a:chExt cx="1891981" cy="2693685"/>
          </a:xfrm>
        </p:grpSpPr>
        <p:sp>
          <p:nvSpPr>
            <p:cNvPr id="9" name="Freeform 9"/>
            <p:cNvSpPr/>
            <p:nvPr/>
          </p:nvSpPr>
          <p:spPr>
            <a:xfrm>
              <a:off x="0" y="0"/>
              <a:ext cx="1891981" cy="2693685"/>
            </a:xfrm>
            <a:custGeom>
              <a:avLst/>
              <a:gdLst/>
              <a:ahLst/>
              <a:cxnLst/>
              <a:rect l="l" t="t" r="r" b="b"/>
              <a:pathLst>
                <a:path w="1891981" h="2693685">
                  <a:moveTo>
                    <a:pt x="54964" y="0"/>
                  </a:moveTo>
                  <a:lnTo>
                    <a:pt x="1837017" y="0"/>
                  </a:lnTo>
                  <a:cubicBezTo>
                    <a:pt x="1851594" y="0"/>
                    <a:pt x="1865574" y="5791"/>
                    <a:pt x="1875882" y="16098"/>
                  </a:cubicBezTo>
                  <a:cubicBezTo>
                    <a:pt x="1886190" y="26406"/>
                    <a:pt x="1891981" y="40386"/>
                    <a:pt x="1891981" y="54964"/>
                  </a:cubicBezTo>
                  <a:lnTo>
                    <a:pt x="1891981" y="2638721"/>
                  </a:lnTo>
                  <a:cubicBezTo>
                    <a:pt x="1891981" y="2653298"/>
                    <a:pt x="1886190" y="2667279"/>
                    <a:pt x="1875882" y="2677586"/>
                  </a:cubicBezTo>
                  <a:cubicBezTo>
                    <a:pt x="1865574" y="2687894"/>
                    <a:pt x="1851594" y="2693685"/>
                    <a:pt x="1837017" y="2693685"/>
                  </a:cubicBezTo>
                  <a:lnTo>
                    <a:pt x="54964" y="2693685"/>
                  </a:lnTo>
                  <a:cubicBezTo>
                    <a:pt x="40386" y="2693685"/>
                    <a:pt x="26406" y="2687894"/>
                    <a:pt x="16098" y="2677586"/>
                  </a:cubicBezTo>
                  <a:cubicBezTo>
                    <a:pt x="5791" y="2667279"/>
                    <a:pt x="0" y="2653298"/>
                    <a:pt x="0" y="2638721"/>
                  </a:cubicBezTo>
                  <a:lnTo>
                    <a:pt x="0" y="54964"/>
                  </a:lnTo>
                  <a:cubicBezTo>
                    <a:pt x="0" y="40386"/>
                    <a:pt x="5791" y="26406"/>
                    <a:pt x="16098" y="16098"/>
                  </a:cubicBezTo>
                  <a:cubicBezTo>
                    <a:pt x="26406" y="5791"/>
                    <a:pt x="40386" y="0"/>
                    <a:pt x="54964" y="0"/>
                  </a:cubicBezTo>
                  <a:close/>
                </a:path>
              </a:pathLst>
            </a:custGeom>
            <a:solidFill>
              <a:srgbClr val="243458"/>
            </a:solidFill>
          </p:spPr>
        </p:sp>
        <p:sp>
          <p:nvSpPr>
            <p:cNvPr id="10" name="TextBox 10"/>
            <p:cNvSpPr txBox="1"/>
            <p:nvPr/>
          </p:nvSpPr>
          <p:spPr>
            <a:xfrm>
              <a:off x="0" y="-57150"/>
              <a:ext cx="1891981" cy="2750835"/>
            </a:xfrm>
            <a:prstGeom prst="rect">
              <a:avLst/>
            </a:prstGeom>
          </p:spPr>
          <p:txBody>
            <a:bodyPr lIns="50800" tIns="50800" rIns="50800" bIns="50800" rtlCol="0" anchor="ctr"/>
            <a:lstStyle/>
            <a:p>
              <a:pPr algn="ctr">
                <a:lnSpc>
                  <a:spcPts val="3220"/>
                </a:lnSpc>
              </a:pPr>
              <a:endParaRPr/>
            </a:p>
          </p:txBody>
        </p:sp>
      </p:grpSp>
      <p:sp>
        <p:nvSpPr>
          <p:cNvPr id="11" name="TextBox 11"/>
          <p:cNvSpPr txBox="1"/>
          <p:nvPr/>
        </p:nvSpPr>
        <p:spPr>
          <a:xfrm>
            <a:off x="9924192" y="6226926"/>
            <a:ext cx="7335108" cy="2238375"/>
          </a:xfrm>
          <a:prstGeom prst="rect">
            <a:avLst/>
          </a:prstGeom>
        </p:spPr>
        <p:txBody>
          <a:bodyPr lIns="0" tIns="0" rIns="0" bIns="0" rtlCol="0" anchor="t">
            <a:spAutoFit/>
          </a:bodyPr>
          <a:lstStyle/>
          <a:p>
            <a:pPr algn="just">
              <a:lnSpc>
                <a:spcPts val="8160"/>
              </a:lnSpc>
            </a:pPr>
            <a:r>
              <a:rPr lang="en-US" sz="6800" b="1">
                <a:solidFill>
                  <a:srgbClr val="FFFFFF"/>
                </a:solidFill>
                <a:latin typeface="Agrandir Bold"/>
                <a:ea typeface="Agrandir Bold"/>
                <a:cs typeface="Agrandir Bold"/>
                <a:sym typeface="Agrandir Bold"/>
              </a:rPr>
              <a:t>Thank You</a:t>
            </a:r>
          </a:p>
          <a:p>
            <a:pPr algn="just">
              <a:lnSpc>
                <a:spcPts val="8160"/>
              </a:lnSpc>
            </a:pPr>
            <a:r>
              <a:rPr lang="en-US" sz="6800" b="1">
                <a:solidFill>
                  <a:srgbClr val="FFFFFF"/>
                </a:solidFill>
                <a:latin typeface="Agrandir Bold"/>
                <a:ea typeface="Agrandir Bold"/>
                <a:cs typeface="Agrandir Bold"/>
                <a:sym typeface="Agrandir Bold"/>
              </a:rPr>
              <a:t>Very Much</a:t>
            </a:r>
          </a:p>
        </p:txBody>
      </p:sp>
      <p:grpSp>
        <p:nvGrpSpPr>
          <p:cNvPr id="12" name="Group 12"/>
          <p:cNvGrpSpPr/>
          <p:nvPr/>
        </p:nvGrpSpPr>
        <p:grpSpPr>
          <a:xfrm>
            <a:off x="1844199" y="1570433"/>
            <a:ext cx="3155439" cy="421169"/>
            <a:chOff x="0" y="0"/>
            <a:chExt cx="3044787" cy="406400"/>
          </a:xfrm>
        </p:grpSpPr>
        <p:sp>
          <p:nvSpPr>
            <p:cNvPr id="13" name="Freeform 13"/>
            <p:cNvSpPr/>
            <p:nvPr/>
          </p:nvSpPr>
          <p:spPr>
            <a:xfrm>
              <a:off x="0" y="0"/>
              <a:ext cx="3044787" cy="406400"/>
            </a:xfrm>
            <a:custGeom>
              <a:avLst/>
              <a:gdLst/>
              <a:ahLst/>
              <a:cxnLst/>
              <a:rect l="l" t="t" r="r" b="b"/>
              <a:pathLst>
                <a:path w="3044787" h="406400">
                  <a:moveTo>
                    <a:pt x="2841587" y="0"/>
                  </a:moveTo>
                  <a:cubicBezTo>
                    <a:pt x="2953811" y="0"/>
                    <a:pt x="3044787" y="90976"/>
                    <a:pt x="3044787" y="203200"/>
                  </a:cubicBezTo>
                  <a:cubicBezTo>
                    <a:pt x="3044787" y="315424"/>
                    <a:pt x="2953811" y="406400"/>
                    <a:pt x="2841587" y="406400"/>
                  </a:cubicBezTo>
                  <a:lnTo>
                    <a:pt x="203200" y="406400"/>
                  </a:lnTo>
                  <a:cubicBezTo>
                    <a:pt x="90976" y="406400"/>
                    <a:pt x="0" y="315424"/>
                    <a:pt x="0" y="203200"/>
                  </a:cubicBezTo>
                  <a:cubicBezTo>
                    <a:pt x="0" y="90976"/>
                    <a:pt x="90976" y="0"/>
                    <a:pt x="203200" y="0"/>
                  </a:cubicBezTo>
                  <a:close/>
                </a:path>
              </a:pathLst>
            </a:custGeom>
            <a:solidFill>
              <a:srgbClr val="FFD03B"/>
            </a:solidFill>
          </p:spPr>
        </p:sp>
        <p:sp>
          <p:nvSpPr>
            <p:cNvPr id="14" name="TextBox 14"/>
            <p:cNvSpPr txBox="1"/>
            <p:nvPr/>
          </p:nvSpPr>
          <p:spPr>
            <a:xfrm>
              <a:off x="0" y="-57150"/>
              <a:ext cx="3044787" cy="463550"/>
            </a:xfrm>
            <a:prstGeom prst="rect">
              <a:avLst/>
            </a:prstGeom>
          </p:spPr>
          <p:txBody>
            <a:bodyPr lIns="50800" tIns="50800" rIns="50800" bIns="50800" rtlCol="0" anchor="ctr"/>
            <a:lstStyle/>
            <a:p>
              <a:pPr algn="ctr">
                <a:lnSpc>
                  <a:spcPts val="3220"/>
                </a:lnSpc>
              </a:pPr>
              <a:endParaRPr/>
            </a:p>
          </p:txBody>
        </p:sp>
      </p:grpSp>
      <p:grpSp>
        <p:nvGrpSpPr>
          <p:cNvPr id="15" name="Group 15"/>
          <p:cNvGrpSpPr/>
          <p:nvPr/>
        </p:nvGrpSpPr>
        <p:grpSpPr>
          <a:xfrm>
            <a:off x="-514350" y="3137510"/>
            <a:ext cx="1543050" cy="781016"/>
            <a:chOff x="0" y="0"/>
            <a:chExt cx="406400" cy="205700"/>
          </a:xfrm>
        </p:grpSpPr>
        <p:sp>
          <p:nvSpPr>
            <p:cNvPr id="16" name="Freeform 16"/>
            <p:cNvSpPr/>
            <p:nvPr/>
          </p:nvSpPr>
          <p:spPr>
            <a:xfrm>
              <a:off x="0" y="0"/>
              <a:ext cx="406400" cy="205700"/>
            </a:xfrm>
            <a:custGeom>
              <a:avLst/>
              <a:gdLst/>
              <a:ahLst/>
              <a:cxnLst/>
              <a:rect l="l" t="t" r="r" b="b"/>
              <a:pathLst>
                <a:path w="406400" h="205700">
                  <a:moveTo>
                    <a:pt x="0" y="0"/>
                  </a:moveTo>
                  <a:lnTo>
                    <a:pt x="406400" y="0"/>
                  </a:lnTo>
                  <a:lnTo>
                    <a:pt x="406400" y="205700"/>
                  </a:lnTo>
                  <a:lnTo>
                    <a:pt x="0" y="205700"/>
                  </a:lnTo>
                  <a:close/>
                </a:path>
              </a:pathLst>
            </a:custGeom>
            <a:solidFill>
              <a:srgbClr val="243458"/>
            </a:solidFill>
          </p:spPr>
        </p:sp>
        <p:sp>
          <p:nvSpPr>
            <p:cNvPr id="17" name="TextBox 17"/>
            <p:cNvSpPr txBox="1"/>
            <p:nvPr/>
          </p:nvSpPr>
          <p:spPr>
            <a:xfrm>
              <a:off x="0" y="-57150"/>
              <a:ext cx="406400" cy="262850"/>
            </a:xfrm>
            <a:prstGeom prst="rect">
              <a:avLst/>
            </a:prstGeom>
          </p:spPr>
          <p:txBody>
            <a:bodyPr lIns="50800" tIns="50800" rIns="50800" bIns="50800" rtlCol="0" anchor="ctr"/>
            <a:lstStyle/>
            <a:p>
              <a:pPr algn="ctr">
                <a:lnSpc>
                  <a:spcPts val="3220"/>
                </a:lnSpc>
              </a:pPr>
              <a:endParaRPr/>
            </a:p>
          </p:txBody>
        </p:sp>
      </p:grpSp>
      <p:sp>
        <p:nvSpPr>
          <p:cNvPr id="18" name="Freeform 18"/>
          <p:cNvSpPr/>
          <p:nvPr/>
        </p:nvSpPr>
        <p:spPr>
          <a:xfrm rot="-8655027" flipH="1" flipV="1">
            <a:off x="13476473" y="7380069"/>
            <a:ext cx="3830266" cy="4114800"/>
          </a:xfrm>
          <a:custGeom>
            <a:avLst/>
            <a:gdLst/>
            <a:ahLst/>
            <a:cxnLst/>
            <a:rect l="l" t="t" r="r" b="b"/>
            <a:pathLst>
              <a:path w="3830266" h="4114800">
                <a:moveTo>
                  <a:pt x="3830266" y="4114800"/>
                </a:moveTo>
                <a:lnTo>
                  <a:pt x="0" y="4114800"/>
                </a:lnTo>
                <a:lnTo>
                  <a:pt x="0" y="0"/>
                </a:lnTo>
                <a:lnTo>
                  <a:pt x="3830266" y="0"/>
                </a:lnTo>
                <a:lnTo>
                  <a:pt x="3830266"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9" name="Freeform 19"/>
          <p:cNvSpPr/>
          <p:nvPr/>
        </p:nvSpPr>
        <p:spPr>
          <a:xfrm rot="-5400000">
            <a:off x="16178531" y="5337778"/>
            <a:ext cx="4218937" cy="1065282"/>
          </a:xfrm>
          <a:custGeom>
            <a:avLst/>
            <a:gdLst/>
            <a:ahLst/>
            <a:cxnLst/>
            <a:rect l="l" t="t" r="r" b="b"/>
            <a:pathLst>
              <a:path w="4218937" h="1065282">
                <a:moveTo>
                  <a:pt x="0" y="0"/>
                </a:moveTo>
                <a:lnTo>
                  <a:pt x="4218938" y="0"/>
                </a:lnTo>
                <a:lnTo>
                  <a:pt x="4218938" y="1065282"/>
                </a:lnTo>
                <a:lnTo>
                  <a:pt x="0" y="106528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0" name="Freeform 20"/>
          <p:cNvSpPr/>
          <p:nvPr/>
        </p:nvSpPr>
        <p:spPr>
          <a:xfrm>
            <a:off x="10029859" y="2815168"/>
            <a:ext cx="1597189" cy="322342"/>
          </a:xfrm>
          <a:custGeom>
            <a:avLst/>
            <a:gdLst/>
            <a:ahLst/>
            <a:cxnLst/>
            <a:rect l="l" t="t" r="r" b="b"/>
            <a:pathLst>
              <a:path w="1597189" h="322342">
                <a:moveTo>
                  <a:pt x="0" y="0"/>
                </a:moveTo>
                <a:lnTo>
                  <a:pt x="1597189" y="0"/>
                </a:lnTo>
                <a:lnTo>
                  <a:pt x="1597189" y="322342"/>
                </a:lnTo>
                <a:lnTo>
                  <a:pt x="0" y="32234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1" name="TextBox 21"/>
          <p:cNvSpPr txBox="1"/>
          <p:nvPr/>
        </p:nvSpPr>
        <p:spPr>
          <a:xfrm>
            <a:off x="2338422" y="1044605"/>
            <a:ext cx="2157378" cy="911147"/>
          </a:xfrm>
          <a:prstGeom prst="rect">
            <a:avLst/>
          </a:prstGeom>
        </p:spPr>
        <p:txBody>
          <a:bodyPr wrap="square" lIns="0" tIns="0" rIns="0" bIns="0" rtlCol="0" anchor="t">
            <a:spAutoFit/>
          </a:bodyPr>
          <a:lstStyle/>
          <a:p>
            <a:pPr algn="ctr">
              <a:lnSpc>
                <a:spcPts val="8908"/>
              </a:lnSpc>
            </a:pPr>
            <a:r>
              <a:rPr lang="en-US" sz="1600" b="1" dirty="0">
                <a:latin typeface="Agrandir Bold"/>
                <a:ea typeface="Agrandir Bold"/>
                <a:cs typeface="Agrandir Bold"/>
                <a:sym typeface="Agrandir Bold"/>
              </a:rPr>
              <a:t>City Centre Mall</a:t>
            </a:r>
          </a:p>
        </p:txBody>
      </p:sp>
      <p:sp>
        <p:nvSpPr>
          <p:cNvPr id="22" name="TextBox 22"/>
          <p:cNvSpPr txBox="1"/>
          <p:nvPr/>
        </p:nvSpPr>
        <p:spPr>
          <a:xfrm>
            <a:off x="11972695" y="1533773"/>
            <a:ext cx="4047541" cy="843958"/>
          </a:xfrm>
          <a:prstGeom prst="rect">
            <a:avLst/>
          </a:prstGeom>
        </p:spPr>
        <p:txBody>
          <a:bodyPr lIns="0" tIns="0" rIns="0" bIns="0" rtlCol="0" anchor="t">
            <a:spAutoFit/>
          </a:bodyPr>
          <a:lstStyle/>
          <a:p>
            <a:pPr algn="r">
              <a:lnSpc>
                <a:spcPts val="3357"/>
              </a:lnSpc>
              <a:spcBef>
                <a:spcPct val="0"/>
              </a:spcBef>
            </a:pPr>
            <a:r>
              <a:rPr lang="en-US" sz="2398" spc="-47" dirty="0">
                <a:solidFill>
                  <a:srgbClr val="FFFFFF"/>
                </a:solidFill>
                <a:latin typeface="Poppins"/>
                <a:ea typeface="Poppins"/>
                <a:cs typeface="Poppins"/>
                <a:sym typeface="Poppins"/>
              </a:rPr>
              <a:t>Let’s Build Better Investments</a:t>
            </a:r>
          </a:p>
        </p:txBody>
      </p:sp>
      <p:sp>
        <p:nvSpPr>
          <p:cNvPr id="24" name="TextBox 24"/>
          <p:cNvSpPr txBox="1"/>
          <p:nvPr/>
        </p:nvSpPr>
        <p:spPr>
          <a:xfrm>
            <a:off x="3164404" y="6886453"/>
            <a:ext cx="4341173" cy="390813"/>
          </a:xfrm>
          <a:prstGeom prst="rect">
            <a:avLst/>
          </a:prstGeom>
        </p:spPr>
        <p:txBody>
          <a:bodyPr wrap="square" lIns="0" tIns="0" rIns="0" bIns="0" rtlCol="0" anchor="t">
            <a:spAutoFit/>
          </a:bodyPr>
          <a:lstStyle/>
          <a:p>
            <a:pPr marL="0" lvl="1">
              <a:lnSpc>
                <a:spcPts val="3359"/>
              </a:lnSpc>
              <a:spcBef>
                <a:spcPct val="0"/>
              </a:spcBef>
            </a:pPr>
            <a:r>
              <a:rPr lang="en-US" dirty="0">
                <a:hlinkClick r:id="rId14" tooltip="www.linkedin.com/in/rimi-singha-3093b532b"/>
              </a:rPr>
              <a:t>www.linkedin.com/in/rimi-singha-3093b532b</a:t>
            </a:r>
            <a:endParaRPr lang="en-US" sz="2400" b="1" u="none" strike="noStrike" dirty="0">
              <a:solidFill>
                <a:srgbClr val="243458"/>
              </a:solidFill>
              <a:latin typeface="Poppins Medium"/>
              <a:ea typeface="Poppins Medium"/>
              <a:cs typeface="Poppins Medium"/>
              <a:sym typeface="Poppins Medium"/>
            </a:endParaRPr>
          </a:p>
        </p:txBody>
      </p:sp>
      <p:sp>
        <p:nvSpPr>
          <p:cNvPr id="25" name="TextBox 25"/>
          <p:cNvSpPr txBox="1"/>
          <p:nvPr/>
        </p:nvSpPr>
        <p:spPr>
          <a:xfrm>
            <a:off x="3164404" y="7629303"/>
            <a:ext cx="4631593" cy="424815"/>
          </a:xfrm>
          <a:prstGeom prst="rect">
            <a:avLst/>
          </a:prstGeom>
        </p:spPr>
        <p:txBody>
          <a:bodyPr lIns="0" tIns="0" rIns="0" bIns="0" rtlCol="0" anchor="t">
            <a:spAutoFit/>
          </a:bodyPr>
          <a:lstStyle/>
          <a:p>
            <a:pPr marL="0" lvl="1" indent="0" algn="l">
              <a:lnSpc>
                <a:spcPts val="3359"/>
              </a:lnSpc>
              <a:spcBef>
                <a:spcPct val="0"/>
              </a:spcBef>
            </a:pPr>
            <a:r>
              <a:rPr lang="en-US" sz="2400" b="1" u="none" strike="noStrike" dirty="0" err="1">
                <a:solidFill>
                  <a:srgbClr val="243458"/>
                </a:solidFill>
                <a:latin typeface="Poppins Medium"/>
                <a:ea typeface="Poppins Medium"/>
                <a:cs typeface="Poppins Medium"/>
                <a:sym typeface="Poppins Medium"/>
              </a:rPr>
              <a:t>Indrapastha</a:t>
            </a:r>
            <a:r>
              <a:rPr lang="en-US" sz="2400" b="1" u="none" strike="noStrike" dirty="0">
                <a:solidFill>
                  <a:srgbClr val="243458"/>
                </a:solidFill>
                <a:latin typeface="Poppins Medium"/>
                <a:ea typeface="Poppins Medium"/>
                <a:cs typeface="Poppins Medium"/>
                <a:sym typeface="Poppins Medium"/>
              </a:rPr>
              <a:t>, </a:t>
            </a:r>
            <a:r>
              <a:rPr lang="en-US" sz="2400" b="1" u="none" strike="noStrike" dirty="0" err="1">
                <a:solidFill>
                  <a:srgbClr val="243458"/>
                </a:solidFill>
                <a:latin typeface="Poppins Medium"/>
                <a:ea typeface="Poppins Medium"/>
                <a:cs typeface="Poppins Medium"/>
                <a:sym typeface="Poppins Medium"/>
              </a:rPr>
              <a:t>B</a:t>
            </a:r>
            <a:r>
              <a:rPr lang="en-US" sz="2400" u="none" strike="noStrike" dirty="0" err="1">
                <a:solidFill>
                  <a:srgbClr val="243458"/>
                </a:solidFill>
                <a:latin typeface="Poppins Medium"/>
                <a:ea typeface="Poppins Medium"/>
                <a:cs typeface="Poppins Medium"/>
                <a:sym typeface="Poppins Medium"/>
              </a:rPr>
              <a:t>erhampore</a:t>
            </a:r>
            <a:endParaRPr lang="en-US" sz="2400" b="1" u="none" strike="noStrike" dirty="0">
              <a:solidFill>
                <a:srgbClr val="243458"/>
              </a:solidFill>
              <a:latin typeface="Poppins Medium"/>
              <a:ea typeface="Poppins Medium"/>
              <a:cs typeface="Poppins Medium"/>
              <a:sym typeface="Poppins Medium"/>
            </a:endParaRPr>
          </a:p>
        </p:txBody>
      </p:sp>
      <p:sp>
        <p:nvSpPr>
          <p:cNvPr id="26" name="TextBox 26"/>
          <p:cNvSpPr txBox="1"/>
          <p:nvPr/>
        </p:nvSpPr>
        <p:spPr>
          <a:xfrm>
            <a:off x="10029859" y="3461342"/>
            <a:ext cx="5210890" cy="1682158"/>
          </a:xfrm>
          <a:prstGeom prst="rect">
            <a:avLst/>
          </a:prstGeom>
        </p:spPr>
        <p:txBody>
          <a:bodyPr lIns="0" tIns="0" rIns="0" bIns="0" rtlCol="0" anchor="t">
            <a:spAutoFit/>
          </a:bodyPr>
          <a:lstStyle/>
          <a:p>
            <a:pPr algn="l">
              <a:lnSpc>
                <a:spcPts val="3357"/>
              </a:lnSpc>
            </a:pPr>
            <a:r>
              <a:rPr lang="en-US" sz="2398" spc="-47" dirty="0">
                <a:solidFill>
                  <a:srgbClr val="FFFFFF"/>
                </a:solidFill>
                <a:latin typeface="Poppins"/>
                <a:ea typeface="Poppins"/>
                <a:cs typeface="Poppins"/>
                <a:sym typeface="Poppins"/>
              </a:rPr>
              <a:t>We’re redefining how responsible investment works. Looking for partners who believe that profit and purpose can scale—together.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708</TotalTime>
  <Words>745</Words>
  <Application>Microsoft Office PowerPoint</Application>
  <PresentationFormat>Custom</PresentationFormat>
  <Paragraphs>47</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Poppins</vt:lpstr>
      <vt:lpstr>Arial Black</vt:lpstr>
      <vt:lpstr>Bahnschrift</vt:lpstr>
      <vt:lpstr>Calibri</vt:lpstr>
      <vt:lpstr>Arial</vt:lpstr>
      <vt:lpstr>Agrandir Bold</vt:lpstr>
      <vt:lpstr>Poppins Medium</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MALL</dc:title>
  <cp:lastModifiedBy>Rimi Singha</cp:lastModifiedBy>
  <cp:revision>9</cp:revision>
  <dcterms:created xsi:type="dcterms:W3CDTF">2006-08-16T00:00:00Z</dcterms:created>
  <dcterms:modified xsi:type="dcterms:W3CDTF">2026-01-11T18:00:05Z</dcterms:modified>
  <dc:identifier>DAG55778fWg</dc:identifier>
</cp:coreProperties>
</file>